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75" r:id="rId8"/>
    <p:sldId id="276"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F01D2A-71D3-43FC-AACE-2F33E5BD5A9A}">
  <a:tblStyle styleId="{49F01D2A-71D3-43FC-AACE-2F33E5BD5A9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6E76623-1142-4C01-8EDB-15418C692EB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798" y="9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4" name="Google Shape;15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47254EE4-5009-E4F6-F73A-8C16D20CA189}"/>
            </a:ext>
          </a:extLst>
        </p:cNvPr>
        <p:cNvGrpSpPr/>
        <p:nvPr/>
      </p:nvGrpSpPr>
      <p:grpSpPr>
        <a:xfrm>
          <a:off x="0" y="0"/>
          <a:ext cx="0" cy="0"/>
          <a:chOff x="0" y="0"/>
          <a:chExt cx="0" cy="0"/>
        </a:xfrm>
      </p:grpSpPr>
      <p:sp>
        <p:nvSpPr>
          <p:cNvPr id="153" name="Google Shape;153;p6:notes">
            <a:extLst>
              <a:ext uri="{FF2B5EF4-FFF2-40B4-BE49-F238E27FC236}">
                <a16:creationId xmlns:a16="http://schemas.microsoft.com/office/drawing/2014/main" id="{CE11B82B-190D-A547-9B90-D712AC7751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4" name="Google Shape;154;p6:notes">
            <a:extLst>
              <a:ext uri="{FF2B5EF4-FFF2-40B4-BE49-F238E27FC236}">
                <a16:creationId xmlns:a16="http://schemas.microsoft.com/office/drawing/2014/main" id="{0D0FB6E5-5D80-51BE-07EE-6A353D257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9003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325F39B8-6583-8282-B093-02B643D337A6}"/>
            </a:ext>
          </a:extLst>
        </p:cNvPr>
        <p:cNvGrpSpPr/>
        <p:nvPr/>
      </p:nvGrpSpPr>
      <p:grpSpPr>
        <a:xfrm>
          <a:off x="0" y="0"/>
          <a:ext cx="0" cy="0"/>
          <a:chOff x="0" y="0"/>
          <a:chExt cx="0" cy="0"/>
        </a:xfrm>
      </p:grpSpPr>
      <p:sp>
        <p:nvSpPr>
          <p:cNvPr id="153" name="Google Shape;153;p6:notes">
            <a:extLst>
              <a:ext uri="{FF2B5EF4-FFF2-40B4-BE49-F238E27FC236}">
                <a16:creationId xmlns:a16="http://schemas.microsoft.com/office/drawing/2014/main" id="{6559FB89-D234-6FDF-DF14-636636106F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4" name="Google Shape;154;p6:notes">
            <a:extLst>
              <a:ext uri="{FF2B5EF4-FFF2-40B4-BE49-F238E27FC236}">
                <a16:creationId xmlns:a16="http://schemas.microsoft.com/office/drawing/2014/main" id="{13F5D966-3159-444C-41D3-BC4CC23CC4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2505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2.png"/><Relationship Id="rId7"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a:stretch/>
        </p:blipFill>
        <p:spPr>
          <a:xfrm>
            <a:off x="1445513" y="84351"/>
            <a:ext cx="9067241" cy="979940"/>
          </a:xfrm>
          <a:prstGeom prst="rect">
            <a:avLst/>
          </a:prstGeom>
          <a:noFill/>
          <a:ln>
            <a:noFill/>
          </a:ln>
        </p:spPr>
      </p:pic>
      <p:sp>
        <p:nvSpPr>
          <p:cNvPr id="85" name="Google Shape;85;p13"/>
          <p:cNvSpPr txBox="1"/>
          <p:nvPr/>
        </p:nvSpPr>
        <p:spPr>
          <a:xfrm>
            <a:off x="3265700" y="2774143"/>
            <a:ext cx="5921050" cy="883964"/>
          </a:xfrm>
          <a:prstGeom prst="rect">
            <a:avLst/>
          </a:prstGeom>
          <a:noFill/>
          <a:ln>
            <a:noFill/>
          </a:ln>
        </p:spPr>
        <p:txBody>
          <a:bodyPr spcFirstLastPara="1" wrap="square" lIns="0" tIns="21975" rIns="0" bIns="0" anchor="t" anchorCtr="0">
            <a:spAutoFit/>
          </a:bodyPr>
          <a:lstStyle/>
          <a:p>
            <a:pPr marL="16913" marR="0" lvl="0" indent="0" algn="ctr" rtl="0">
              <a:spcBef>
                <a:spcPts val="0"/>
              </a:spcBef>
              <a:spcAft>
                <a:spcPts val="0"/>
              </a:spcAft>
              <a:buNone/>
            </a:pPr>
            <a:r>
              <a:rPr lang="en-US" sz="2800" b="1" dirty="0">
                <a:solidFill>
                  <a:schemeClr val="dk1"/>
                </a:solidFill>
                <a:latin typeface="Georgia"/>
                <a:ea typeface="Georgia"/>
                <a:cs typeface="Georgia"/>
                <a:sym typeface="Georgia"/>
              </a:rPr>
              <a:t>Anomaly Detection in Networks Using ML</a:t>
            </a:r>
            <a:endParaRPr sz="2800" b="1" i="0" u="none" strike="noStrike" cap="none" dirty="0">
              <a:solidFill>
                <a:schemeClr val="dk1"/>
              </a:solidFill>
              <a:latin typeface="Georgia"/>
              <a:ea typeface="Georgia"/>
              <a:cs typeface="Georgia"/>
              <a:sym typeface="Georgia"/>
            </a:endParaRPr>
          </a:p>
        </p:txBody>
      </p:sp>
      <p:sp>
        <p:nvSpPr>
          <p:cNvPr id="86" name="Google Shape;86;p13"/>
          <p:cNvSpPr txBox="1"/>
          <p:nvPr/>
        </p:nvSpPr>
        <p:spPr>
          <a:xfrm>
            <a:off x="576773" y="3493773"/>
            <a:ext cx="2463299" cy="430285"/>
          </a:xfrm>
          <a:prstGeom prst="rect">
            <a:avLst/>
          </a:prstGeom>
          <a:noFill/>
          <a:ln>
            <a:noFill/>
          </a:ln>
        </p:spPr>
        <p:txBody>
          <a:bodyPr spcFirstLastPara="1" wrap="square" lIns="0" tIns="20275" rIns="0" bIns="0" anchor="t" anchorCtr="0">
            <a:spAutoFit/>
          </a:bodyPr>
          <a:lstStyle/>
          <a:p>
            <a:pPr marL="16913" marR="0" lvl="0" indent="0" algn="l" rtl="0">
              <a:spcBef>
                <a:spcPts val="0"/>
              </a:spcBef>
              <a:spcAft>
                <a:spcPts val="0"/>
              </a:spcAft>
              <a:buNone/>
            </a:pPr>
            <a:r>
              <a:rPr lang="en-US" sz="2663" b="1" i="0" u="none" strike="noStrike" cap="none">
                <a:solidFill>
                  <a:srgbClr val="4F6028"/>
                </a:solidFill>
                <a:latin typeface="Cambria"/>
                <a:ea typeface="Cambria"/>
                <a:cs typeface="Cambria"/>
                <a:sym typeface="Cambria"/>
              </a:rPr>
              <a:t>Presented By:</a:t>
            </a:r>
            <a:endParaRPr sz="2663" b="0" i="0" u="none" strike="noStrike" cap="none">
              <a:solidFill>
                <a:schemeClr val="dk1"/>
              </a:solidFill>
              <a:latin typeface="Cambria"/>
              <a:ea typeface="Cambria"/>
              <a:cs typeface="Cambria"/>
              <a:sym typeface="Cambria"/>
            </a:endParaRPr>
          </a:p>
        </p:txBody>
      </p:sp>
      <p:sp>
        <p:nvSpPr>
          <p:cNvPr id="87" name="Google Shape;87;p13"/>
          <p:cNvSpPr txBox="1"/>
          <p:nvPr/>
        </p:nvSpPr>
        <p:spPr>
          <a:xfrm>
            <a:off x="576773" y="4360537"/>
            <a:ext cx="2836218" cy="1243515"/>
          </a:xfrm>
          <a:prstGeom prst="rect">
            <a:avLst/>
          </a:prstGeom>
          <a:noFill/>
          <a:ln>
            <a:noFill/>
          </a:ln>
        </p:spPr>
        <p:txBody>
          <a:bodyPr spcFirstLastPara="1" wrap="square" lIns="0" tIns="5050" rIns="0" bIns="0" anchor="t" anchorCtr="0">
            <a:spAutoFit/>
          </a:bodyPr>
          <a:lstStyle/>
          <a:p>
            <a:pPr marL="16913" marR="6765" lvl="0" indent="0" algn="l" rtl="0">
              <a:lnSpc>
                <a:spcPct val="105000"/>
              </a:lnSpc>
              <a:spcBef>
                <a:spcPts val="0"/>
              </a:spcBef>
              <a:spcAft>
                <a:spcPts val="0"/>
              </a:spcAft>
              <a:buNone/>
            </a:pPr>
            <a:r>
              <a:rPr lang="en-US" sz="2264" b="1" i="0" u="none" strike="noStrike" cap="none" dirty="0">
                <a:solidFill>
                  <a:srgbClr val="234060"/>
                </a:solidFill>
                <a:latin typeface="Cambria"/>
                <a:ea typeface="Cambria"/>
                <a:cs typeface="Cambria"/>
                <a:sym typeface="Cambria"/>
              </a:rPr>
              <a:t>Name</a:t>
            </a:r>
          </a:p>
          <a:p>
            <a:pPr marL="16913" marR="6765" lvl="0" indent="0" algn="l" rtl="0">
              <a:lnSpc>
                <a:spcPct val="105000"/>
              </a:lnSpc>
              <a:spcBef>
                <a:spcPts val="0"/>
              </a:spcBef>
              <a:spcAft>
                <a:spcPts val="0"/>
              </a:spcAft>
              <a:buNone/>
            </a:pPr>
            <a:r>
              <a:rPr lang="en-US" sz="1800" b="1" dirty="0">
                <a:solidFill>
                  <a:srgbClr val="234060"/>
                </a:solidFill>
                <a:latin typeface="Cambria"/>
                <a:ea typeface="Cambria"/>
                <a:cs typeface="Cambria"/>
                <a:sym typeface="Cambria"/>
              </a:rPr>
              <a:t>Anna Banerjee</a:t>
            </a:r>
          </a:p>
          <a:p>
            <a:pPr marL="16913" marR="6765" lvl="0" indent="0" algn="l" rtl="0">
              <a:lnSpc>
                <a:spcPct val="105000"/>
              </a:lnSpc>
              <a:spcBef>
                <a:spcPts val="0"/>
              </a:spcBef>
              <a:spcAft>
                <a:spcPts val="0"/>
              </a:spcAft>
              <a:buNone/>
            </a:pPr>
            <a:r>
              <a:rPr lang="en-US" sz="1800" b="1" i="0" u="none" strike="noStrike" cap="none" dirty="0" err="1">
                <a:solidFill>
                  <a:srgbClr val="234060"/>
                </a:solidFill>
                <a:latin typeface="Cambria"/>
                <a:ea typeface="Cambria"/>
                <a:cs typeface="Cambria"/>
                <a:sym typeface="Cambria"/>
              </a:rPr>
              <a:t>Dheekshva</a:t>
            </a:r>
            <a:r>
              <a:rPr lang="en-US" sz="1800" b="1" i="0" u="none" strike="noStrike" cap="none" dirty="0">
                <a:solidFill>
                  <a:srgbClr val="234060"/>
                </a:solidFill>
                <a:latin typeface="Cambria"/>
                <a:ea typeface="Cambria"/>
                <a:cs typeface="Cambria"/>
                <a:sym typeface="Cambria"/>
              </a:rPr>
              <a:t> Rajkumar</a:t>
            </a:r>
          </a:p>
          <a:p>
            <a:pPr marL="16913" marR="6765" lvl="0" indent="0" algn="l" rtl="0">
              <a:lnSpc>
                <a:spcPct val="105000"/>
              </a:lnSpc>
              <a:spcBef>
                <a:spcPts val="0"/>
              </a:spcBef>
              <a:spcAft>
                <a:spcPts val="0"/>
              </a:spcAft>
              <a:buNone/>
            </a:pPr>
            <a:r>
              <a:rPr lang="en-US" sz="1800" b="1" dirty="0">
                <a:solidFill>
                  <a:srgbClr val="234060"/>
                </a:solidFill>
                <a:latin typeface="Cambria"/>
                <a:ea typeface="Cambria"/>
                <a:cs typeface="Cambria"/>
                <a:sym typeface="Cambria"/>
              </a:rPr>
              <a:t>Disha Sharma</a:t>
            </a:r>
            <a:endParaRPr sz="1800" b="0" i="0" u="none" strike="noStrike" cap="none" dirty="0">
              <a:solidFill>
                <a:schemeClr val="dk1"/>
              </a:solidFill>
              <a:latin typeface="Cambria"/>
              <a:ea typeface="Cambria"/>
              <a:cs typeface="Cambria"/>
              <a:sym typeface="Cambria"/>
            </a:endParaRPr>
          </a:p>
        </p:txBody>
      </p:sp>
      <p:sp>
        <p:nvSpPr>
          <p:cNvPr id="88" name="Google Shape;88;p13"/>
          <p:cNvSpPr txBox="1"/>
          <p:nvPr/>
        </p:nvSpPr>
        <p:spPr>
          <a:xfrm>
            <a:off x="5001256" y="4360536"/>
            <a:ext cx="2116594" cy="1201615"/>
          </a:xfrm>
          <a:prstGeom prst="rect">
            <a:avLst/>
          </a:prstGeom>
          <a:noFill/>
          <a:ln>
            <a:noFill/>
          </a:ln>
        </p:spPr>
        <p:txBody>
          <a:bodyPr spcFirstLastPara="1" wrap="square" lIns="0" tIns="21975" rIns="0" bIns="0" anchor="t" anchorCtr="0">
            <a:spAutoFit/>
          </a:bodyPr>
          <a:lstStyle/>
          <a:p>
            <a:pPr marL="16913" marR="0" lvl="0" indent="0" algn="l" rtl="0">
              <a:spcBef>
                <a:spcPts val="0"/>
              </a:spcBef>
              <a:spcAft>
                <a:spcPts val="0"/>
              </a:spcAft>
              <a:buNone/>
            </a:pPr>
            <a:r>
              <a:rPr lang="en-US" sz="2264" b="1" i="0" u="none" strike="noStrike" cap="none" dirty="0">
                <a:solidFill>
                  <a:srgbClr val="234060"/>
                </a:solidFill>
                <a:latin typeface="Cambria"/>
                <a:ea typeface="Cambria"/>
                <a:cs typeface="Cambria"/>
                <a:sym typeface="Cambria"/>
              </a:rPr>
              <a:t>USN</a:t>
            </a:r>
          </a:p>
          <a:p>
            <a:pPr marL="16913" marR="0" lvl="0" indent="0" algn="l" rtl="0">
              <a:spcBef>
                <a:spcPts val="0"/>
              </a:spcBef>
              <a:spcAft>
                <a:spcPts val="0"/>
              </a:spcAft>
              <a:buNone/>
            </a:pPr>
            <a:r>
              <a:rPr lang="en-US" sz="1800" b="1" dirty="0">
                <a:solidFill>
                  <a:srgbClr val="234060"/>
                </a:solidFill>
                <a:latin typeface="Cambria"/>
                <a:ea typeface="Cambria"/>
                <a:cs typeface="Cambria"/>
                <a:sym typeface="Cambria"/>
              </a:rPr>
              <a:t>1DS23CD008</a:t>
            </a:r>
          </a:p>
          <a:p>
            <a:pPr marL="16913" marR="0" lvl="0" indent="0" algn="l" rtl="0">
              <a:spcBef>
                <a:spcPts val="0"/>
              </a:spcBef>
              <a:spcAft>
                <a:spcPts val="0"/>
              </a:spcAft>
              <a:buNone/>
            </a:pPr>
            <a:r>
              <a:rPr lang="en-US" sz="1800" b="1" i="0" u="none" strike="noStrike" cap="none" dirty="0">
                <a:solidFill>
                  <a:srgbClr val="234060"/>
                </a:solidFill>
                <a:latin typeface="Cambria"/>
                <a:ea typeface="Cambria"/>
                <a:cs typeface="Cambria"/>
                <a:sym typeface="Cambria"/>
              </a:rPr>
              <a:t>1DS23CD017</a:t>
            </a:r>
          </a:p>
          <a:p>
            <a:pPr marL="16913" marR="0" lvl="0" indent="0" algn="l" rtl="0">
              <a:spcBef>
                <a:spcPts val="0"/>
              </a:spcBef>
              <a:spcAft>
                <a:spcPts val="0"/>
              </a:spcAft>
              <a:buNone/>
            </a:pPr>
            <a:r>
              <a:rPr lang="en-US" sz="1800" b="1" dirty="0">
                <a:solidFill>
                  <a:srgbClr val="234060"/>
                </a:solidFill>
                <a:latin typeface="Cambria"/>
                <a:ea typeface="Cambria"/>
                <a:cs typeface="Cambria"/>
                <a:sym typeface="Cambria"/>
              </a:rPr>
              <a:t>1DS23CD018</a:t>
            </a:r>
            <a:endParaRPr sz="1800" b="0" i="0" u="none" strike="noStrike" cap="none" dirty="0">
              <a:solidFill>
                <a:schemeClr val="dk1"/>
              </a:solidFill>
              <a:latin typeface="Cambria"/>
              <a:ea typeface="Cambria"/>
              <a:cs typeface="Cambria"/>
              <a:sym typeface="Cambria"/>
            </a:endParaRPr>
          </a:p>
        </p:txBody>
      </p:sp>
      <p:sp>
        <p:nvSpPr>
          <p:cNvPr id="89" name="Google Shape;89;p13"/>
          <p:cNvSpPr txBox="1"/>
          <p:nvPr/>
        </p:nvSpPr>
        <p:spPr>
          <a:xfrm>
            <a:off x="4130773" y="6065686"/>
            <a:ext cx="4190906" cy="267249"/>
          </a:xfrm>
          <a:prstGeom prst="rect">
            <a:avLst/>
          </a:prstGeom>
          <a:noFill/>
          <a:ln>
            <a:noFill/>
          </a:ln>
        </p:spPr>
        <p:txBody>
          <a:bodyPr spcFirstLastPara="1" wrap="square" lIns="0" tIns="21125" rIns="0" bIns="0" anchor="t" anchorCtr="0">
            <a:spAutoFit/>
          </a:bodyPr>
          <a:lstStyle/>
          <a:p>
            <a:pPr marL="16913" marR="0" lvl="0" indent="0" algn="l" rtl="0">
              <a:spcBef>
                <a:spcPts val="0"/>
              </a:spcBef>
              <a:spcAft>
                <a:spcPts val="0"/>
              </a:spcAft>
              <a:buNone/>
            </a:pPr>
            <a:r>
              <a:rPr lang="en-US" sz="1598" b="0" i="0" u="none" strike="noStrike" cap="none">
                <a:solidFill>
                  <a:schemeClr val="dk1"/>
                </a:solidFill>
                <a:latin typeface="Georgia"/>
                <a:ea typeface="Georgia"/>
                <a:cs typeface="Georgia"/>
                <a:sym typeface="Georgia"/>
              </a:rPr>
              <a:t>Department of CSE (Data Science), DSCE</a:t>
            </a:r>
            <a:endParaRPr sz="1598" b="0" i="0" u="none" strike="noStrike" cap="none">
              <a:solidFill>
                <a:schemeClr val="dk1"/>
              </a:solidFill>
              <a:latin typeface="Georgia"/>
              <a:ea typeface="Georgia"/>
              <a:cs typeface="Georgia"/>
              <a:sym typeface="Georgia"/>
            </a:endParaRPr>
          </a:p>
        </p:txBody>
      </p:sp>
      <p:sp>
        <p:nvSpPr>
          <p:cNvPr id="90" name="Google Shape;90;p13"/>
          <p:cNvSpPr txBox="1"/>
          <p:nvPr/>
        </p:nvSpPr>
        <p:spPr>
          <a:xfrm>
            <a:off x="7670562" y="3709392"/>
            <a:ext cx="4408230" cy="1839881"/>
          </a:xfrm>
          <a:prstGeom prst="rect">
            <a:avLst/>
          </a:prstGeom>
          <a:noFill/>
          <a:ln w="9525" cap="flat" cmpd="sng">
            <a:solidFill>
              <a:srgbClr val="000000"/>
            </a:solidFill>
            <a:prstDash val="solid"/>
            <a:round/>
            <a:headEnd type="none" w="sm" len="sm"/>
            <a:tailEnd type="none" w="sm" len="sm"/>
          </a:ln>
        </p:spPr>
        <p:txBody>
          <a:bodyPr spcFirstLastPara="1" wrap="square" lIns="0" tIns="54100" rIns="0" bIns="0" anchor="t" anchorCtr="0">
            <a:spAutoFit/>
          </a:bodyPr>
          <a:lstStyle/>
          <a:p>
            <a:pPr marL="9302" marR="0" lvl="0" indent="0" algn="ctr" rtl="0">
              <a:spcBef>
                <a:spcPts val="0"/>
              </a:spcBef>
              <a:spcAft>
                <a:spcPts val="0"/>
              </a:spcAft>
              <a:buNone/>
            </a:pPr>
            <a:r>
              <a:rPr lang="en-US" sz="2397" b="1" i="0" u="none" strike="noStrike" cap="none" dirty="0">
                <a:solidFill>
                  <a:srgbClr val="484429"/>
                </a:solidFill>
                <a:latin typeface="Cambria"/>
                <a:ea typeface="Cambria"/>
                <a:cs typeface="Cambria"/>
                <a:sym typeface="Cambria"/>
              </a:rPr>
              <a:t>Under The Guidance Of</a:t>
            </a:r>
            <a:endParaRPr sz="2397" b="0" i="0" u="none" strike="noStrike" cap="none" dirty="0">
              <a:solidFill>
                <a:schemeClr val="dk1"/>
              </a:solidFill>
              <a:latin typeface="Cambria"/>
              <a:ea typeface="Cambria"/>
              <a:cs typeface="Cambria"/>
              <a:sym typeface="Cambria"/>
            </a:endParaRPr>
          </a:p>
          <a:p>
            <a:pPr marL="0" marR="0" lvl="0" indent="0" algn="l" rtl="0">
              <a:lnSpc>
                <a:spcPct val="100000"/>
              </a:lnSpc>
              <a:spcBef>
                <a:spcPts val="0"/>
              </a:spcBef>
              <a:spcAft>
                <a:spcPts val="0"/>
              </a:spcAft>
              <a:buNone/>
            </a:pPr>
            <a:endParaRPr sz="3196" b="0" i="0" u="none" strike="noStrike" cap="none" dirty="0">
              <a:solidFill>
                <a:schemeClr val="dk1"/>
              </a:solidFill>
              <a:latin typeface="Cambria"/>
              <a:ea typeface="Cambria"/>
              <a:cs typeface="Cambria"/>
              <a:sym typeface="Cambria"/>
            </a:endParaRPr>
          </a:p>
          <a:p>
            <a:pPr marL="9302" marR="0" lvl="0" indent="0" algn="ctr" rtl="0">
              <a:spcBef>
                <a:spcPts val="0"/>
              </a:spcBef>
              <a:spcAft>
                <a:spcPts val="0"/>
              </a:spcAft>
              <a:buNone/>
            </a:pPr>
            <a:r>
              <a:rPr lang="en-US" sz="1731" b="1" dirty="0">
                <a:solidFill>
                  <a:srgbClr val="17365D"/>
                </a:solidFill>
                <a:latin typeface="Cambria"/>
                <a:ea typeface="Cambria"/>
                <a:sym typeface="Cambria"/>
              </a:rPr>
              <a:t>Prof. Bhagyashree Kulkarni</a:t>
            </a:r>
            <a:endParaRPr dirty="0"/>
          </a:p>
          <a:p>
            <a:pPr marL="9302" marR="0" lvl="0" indent="0" algn="ctr" rtl="0">
              <a:spcBef>
                <a:spcPts val="0"/>
              </a:spcBef>
              <a:spcAft>
                <a:spcPts val="0"/>
              </a:spcAft>
              <a:buNone/>
            </a:pPr>
            <a:r>
              <a:rPr lang="en-US" sz="1398" dirty="0">
                <a:solidFill>
                  <a:schemeClr val="dk1"/>
                </a:solidFill>
                <a:latin typeface="Georgia"/>
                <a:sym typeface="Georgia"/>
              </a:rPr>
              <a:t>Assistant Professor</a:t>
            </a:r>
            <a:endParaRPr dirty="0"/>
          </a:p>
          <a:p>
            <a:pPr marL="1691" marR="0" lvl="0" indent="0" algn="ctr" rtl="0">
              <a:spcBef>
                <a:spcPts val="7"/>
              </a:spcBef>
              <a:spcAft>
                <a:spcPts val="0"/>
              </a:spcAft>
              <a:buNone/>
            </a:pPr>
            <a:r>
              <a:rPr lang="en-US" sz="1398" b="0" i="0" u="none" strike="noStrike" cap="none" dirty="0">
                <a:solidFill>
                  <a:schemeClr val="dk1"/>
                </a:solidFill>
                <a:latin typeface="Georgia"/>
                <a:ea typeface="Georgia"/>
                <a:cs typeface="Georgia"/>
                <a:sym typeface="Georgia"/>
              </a:rPr>
              <a:t>Dept. of CSE(Data Science)</a:t>
            </a:r>
            <a:endParaRPr sz="1398" b="0" i="0" u="none" strike="noStrike" cap="none" dirty="0">
              <a:solidFill>
                <a:schemeClr val="dk1"/>
              </a:solidFill>
              <a:latin typeface="Georgia"/>
              <a:ea typeface="Georgia"/>
              <a:cs typeface="Georgia"/>
              <a:sym typeface="Georgia"/>
            </a:endParaRPr>
          </a:p>
          <a:p>
            <a:pPr marL="0" marR="9302" lvl="0" indent="0" algn="ctr" rtl="0">
              <a:spcBef>
                <a:spcPts val="146"/>
              </a:spcBef>
              <a:spcAft>
                <a:spcPts val="0"/>
              </a:spcAft>
              <a:buNone/>
            </a:pPr>
            <a:r>
              <a:rPr lang="en-US" sz="1398" b="0" i="0" u="none" strike="noStrike" cap="none" dirty="0">
                <a:solidFill>
                  <a:schemeClr val="dk1"/>
                </a:solidFill>
                <a:latin typeface="Georgia"/>
                <a:ea typeface="Georgia"/>
                <a:cs typeface="Georgia"/>
                <a:sym typeface="Georgia"/>
              </a:rPr>
              <a:t>DSCE, Bangalore</a:t>
            </a:r>
            <a:endParaRPr sz="1398" b="0" i="0" u="none" strike="noStrike" cap="none" dirty="0">
              <a:solidFill>
                <a:schemeClr val="dk1"/>
              </a:solidFill>
              <a:latin typeface="Georgia"/>
              <a:ea typeface="Georgia"/>
              <a:cs typeface="Georgia"/>
              <a:sym typeface="Georgia"/>
            </a:endParaRPr>
          </a:p>
        </p:txBody>
      </p:sp>
      <p:sp>
        <p:nvSpPr>
          <p:cNvPr id="91" name="Google Shape;91;p13"/>
          <p:cNvSpPr txBox="1"/>
          <p:nvPr/>
        </p:nvSpPr>
        <p:spPr>
          <a:xfrm>
            <a:off x="11396700" y="6273961"/>
            <a:ext cx="152212" cy="297172"/>
          </a:xfrm>
          <a:prstGeom prst="rect">
            <a:avLst/>
          </a:prstGeom>
          <a:noFill/>
          <a:ln>
            <a:noFill/>
          </a:ln>
        </p:spPr>
        <p:txBody>
          <a:bodyPr spcFirstLastPara="1" wrap="square" lIns="0" tIns="20275" rIns="0" bIns="0" anchor="t" anchorCtr="0">
            <a:spAutoFit/>
          </a:bodyPr>
          <a:lstStyle/>
          <a:p>
            <a:pPr marL="16913" marR="0" lvl="0" indent="0" algn="l" rtl="0">
              <a:spcBef>
                <a:spcPts val="0"/>
              </a:spcBef>
              <a:spcAft>
                <a:spcPts val="0"/>
              </a:spcAft>
              <a:buNone/>
            </a:pPr>
            <a:r>
              <a:rPr lang="en-US" sz="1798" b="0" i="0" u="none" strike="noStrike" cap="none">
                <a:solidFill>
                  <a:schemeClr val="dk1"/>
                </a:solidFill>
                <a:latin typeface="Calibri"/>
                <a:ea typeface="Calibri"/>
                <a:cs typeface="Calibri"/>
                <a:sym typeface="Calibri"/>
              </a:rPr>
              <a:t>1</a:t>
            </a:r>
            <a:endParaRPr sz="1798" b="0" i="0" u="none" strike="noStrike" cap="none">
              <a:solidFill>
                <a:schemeClr val="dk1"/>
              </a:solidFill>
              <a:latin typeface="Calibri"/>
              <a:ea typeface="Calibri"/>
              <a:cs typeface="Calibri"/>
              <a:sym typeface="Calibri"/>
            </a:endParaRPr>
          </a:p>
        </p:txBody>
      </p:sp>
      <p:grpSp>
        <p:nvGrpSpPr>
          <p:cNvPr id="92" name="Google Shape;92;p13"/>
          <p:cNvGrpSpPr/>
          <p:nvPr/>
        </p:nvGrpSpPr>
        <p:grpSpPr>
          <a:xfrm>
            <a:off x="-28932" y="143789"/>
            <a:ext cx="12176967" cy="6630358"/>
            <a:chOff x="0" y="118871"/>
            <a:chExt cx="9144000" cy="4978908"/>
          </a:xfrm>
        </p:grpSpPr>
        <p:pic>
          <p:nvPicPr>
            <p:cNvPr id="93" name="Google Shape;93;p13"/>
            <p:cNvPicPr preferRelativeResize="0"/>
            <p:nvPr/>
          </p:nvPicPr>
          <p:blipFill rotWithShape="1">
            <a:blip r:embed="rId4">
              <a:alphaModFix/>
            </a:blip>
            <a:srcRect/>
            <a:stretch/>
          </p:blipFill>
          <p:spPr>
            <a:xfrm>
              <a:off x="0" y="712660"/>
              <a:ext cx="9144000" cy="97440"/>
            </a:xfrm>
            <a:prstGeom prst="rect">
              <a:avLst/>
            </a:prstGeom>
            <a:noFill/>
            <a:ln>
              <a:noFill/>
            </a:ln>
          </p:spPr>
        </p:pic>
        <p:sp>
          <p:nvSpPr>
            <p:cNvPr id="94" name="Google Shape;94;p13"/>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95" name="Google Shape;95;p13"/>
            <p:cNvPicPr preferRelativeResize="0"/>
            <p:nvPr/>
          </p:nvPicPr>
          <p:blipFill rotWithShape="1">
            <a:blip r:embed="rId5">
              <a:alphaModFix/>
            </a:blip>
            <a:srcRect/>
            <a:stretch/>
          </p:blipFill>
          <p:spPr>
            <a:xfrm>
              <a:off x="274320" y="118871"/>
              <a:ext cx="141732" cy="4978908"/>
            </a:xfrm>
            <a:prstGeom prst="rect">
              <a:avLst/>
            </a:prstGeom>
            <a:noFill/>
            <a:ln>
              <a:noFill/>
            </a:ln>
          </p:spPr>
        </p:pic>
        <p:sp>
          <p:nvSpPr>
            <p:cNvPr id="96" name="Google Shape;96;p13"/>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sp>
        <p:nvSpPr>
          <p:cNvPr id="97" name="Google Shape;97;p13"/>
          <p:cNvSpPr txBox="1"/>
          <p:nvPr/>
        </p:nvSpPr>
        <p:spPr>
          <a:xfrm>
            <a:off x="4781889" y="2453079"/>
            <a:ext cx="288867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Course Code:22CD49</a:t>
            </a:r>
            <a:endParaRPr sz="1800" dirty="0">
              <a:solidFill>
                <a:schemeClr val="dk1"/>
              </a:solidFill>
              <a:latin typeface="Calibri"/>
              <a:ea typeface="Calibri"/>
              <a:cs typeface="Calibri"/>
              <a:sym typeface="Calibri"/>
            </a:endParaRPr>
          </a:p>
        </p:txBody>
      </p:sp>
      <p:sp>
        <p:nvSpPr>
          <p:cNvPr id="98" name="Google Shape;98;p13"/>
          <p:cNvSpPr txBox="1"/>
          <p:nvPr/>
        </p:nvSpPr>
        <p:spPr>
          <a:xfrm>
            <a:off x="2299854" y="1128418"/>
            <a:ext cx="8382000" cy="445634"/>
          </a:xfrm>
          <a:prstGeom prst="rect">
            <a:avLst/>
          </a:prstGeom>
          <a:noFill/>
          <a:ln>
            <a:noFill/>
          </a:ln>
        </p:spPr>
        <p:txBody>
          <a:bodyPr spcFirstLastPara="1" wrap="square" lIns="0" tIns="14600" rIns="0" bIns="0" anchor="t" anchorCtr="0">
            <a:spAutoFit/>
          </a:bodyPr>
          <a:lstStyle/>
          <a:p>
            <a:pPr marL="12700" marR="0" lvl="0" indent="0" algn="ctr" rtl="0">
              <a:lnSpc>
                <a:spcPct val="100000"/>
              </a:lnSpc>
              <a:spcBef>
                <a:spcPts val="0"/>
              </a:spcBef>
              <a:spcAft>
                <a:spcPts val="0"/>
              </a:spcAft>
              <a:buClr>
                <a:srgbClr val="000000"/>
              </a:buClr>
              <a:buSzPts val="2800"/>
              <a:buFont typeface="Cambria"/>
              <a:buNone/>
            </a:pPr>
            <a:r>
              <a:rPr lang="en-US" sz="2800" b="1" i="0" u="none" strike="noStrike" cap="none">
                <a:solidFill>
                  <a:srgbClr val="000000"/>
                </a:solidFill>
                <a:latin typeface="Cambria"/>
                <a:ea typeface="Cambria"/>
                <a:cs typeface="Cambria"/>
                <a:sym typeface="Cambria"/>
              </a:rPr>
              <a:t>MINI-PROJECT PRESENTATION</a:t>
            </a:r>
            <a:endParaRPr sz="2800" b="1" i="0" u="none" strike="noStrike" cap="none">
              <a:solidFill>
                <a:srgbClr val="365F92"/>
              </a:solidFill>
              <a:latin typeface="Cambria"/>
              <a:ea typeface="Cambria"/>
              <a:cs typeface="Cambria"/>
              <a:sym typeface="Cambria"/>
            </a:endParaRPr>
          </a:p>
        </p:txBody>
      </p:sp>
      <p:sp>
        <p:nvSpPr>
          <p:cNvPr id="99" name="Google Shape;99;p13"/>
          <p:cNvSpPr txBox="1"/>
          <p:nvPr/>
        </p:nvSpPr>
        <p:spPr>
          <a:xfrm>
            <a:off x="4149388" y="1599736"/>
            <a:ext cx="4446270" cy="752770"/>
          </a:xfrm>
          <a:prstGeom prst="rect">
            <a:avLst/>
          </a:prstGeom>
          <a:noFill/>
          <a:ln>
            <a:noFill/>
          </a:ln>
        </p:spPr>
        <p:txBody>
          <a:bodyPr spcFirstLastPara="1" wrap="square" lIns="0" tIns="16500" rIns="0" bIns="0" anchor="t" anchorCtr="0">
            <a:spAutoFit/>
          </a:bodyPr>
          <a:lstStyle/>
          <a:p>
            <a:pPr marL="12700" marR="0" lvl="0" indent="0" algn="ctr" rtl="0">
              <a:lnSpc>
                <a:spcPct val="100000"/>
              </a:lnSpc>
              <a:spcBef>
                <a:spcPts val="0"/>
              </a:spcBef>
              <a:spcAft>
                <a:spcPts val="0"/>
              </a:spcAft>
              <a:buNone/>
            </a:pPr>
            <a:r>
              <a:rPr lang="en-US" sz="2350" dirty="0">
                <a:solidFill>
                  <a:schemeClr val="dk1"/>
                </a:solidFill>
                <a:latin typeface="Georgia"/>
                <a:ea typeface="Georgia"/>
                <a:cs typeface="Georgia"/>
                <a:sym typeface="Georgia"/>
              </a:rPr>
              <a:t>Academic Year (2024-25) </a:t>
            </a:r>
            <a:endParaRPr/>
          </a:p>
          <a:p>
            <a:pPr marL="12700" marR="0" lvl="0" indent="0" algn="ctr" rtl="0">
              <a:lnSpc>
                <a:spcPct val="100000"/>
              </a:lnSpc>
              <a:spcBef>
                <a:spcPts val="130"/>
              </a:spcBef>
              <a:spcAft>
                <a:spcPts val="0"/>
              </a:spcAft>
              <a:buNone/>
            </a:pPr>
            <a:r>
              <a:rPr lang="en-US" sz="2350" dirty="0">
                <a:solidFill>
                  <a:schemeClr val="dk1"/>
                </a:solidFill>
                <a:latin typeface="Georgia"/>
                <a:ea typeface="Georgia"/>
                <a:cs typeface="Georgia"/>
                <a:sym typeface="Georgia"/>
              </a:rPr>
              <a:t>(IV/VI Semester)</a:t>
            </a:r>
            <a:endParaRPr sz="2350">
              <a:solidFill>
                <a:schemeClr val="dk1"/>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4"/>
          <p:cNvSpPr txBox="1">
            <a:spLocks noGrp="1"/>
          </p:cNvSpPr>
          <p:nvPr>
            <p:ph type="body" idx="1"/>
          </p:nvPr>
        </p:nvSpPr>
        <p:spPr>
          <a:xfrm>
            <a:off x="744681" y="1423058"/>
            <a:ext cx="5639351" cy="2149958"/>
          </a:xfrm>
          <a:prstGeom prst="rect">
            <a:avLst/>
          </a:prstGeom>
          <a:noFill/>
          <a:ln>
            <a:noFill/>
          </a:ln>
        </p:spPr>
        <p:txBody>
          <a:bodyPr spcFirstLastPara="1" wrap="square" lIns="91425" tIns="45700" rIns="91425" bIns="45700" anchor="t" anchorCtr="0">
            <a:normAutofit fontScale="55000" lnSpcReduction="20000"/>
          </a:bodyPr>
          <a:lstStyle/>
          <a:p>
            <a:pPr marL="268605" lvl="0" indent="-256540" algn="l" rtl="0">
              <a:lnSpc>
                <a:spcPct val="150000"/>
              </a:lnSpc>
              <a:spcBef>
                <a:spcPts val="0"/>
              </a:spcBef>
              <a:spcAft>
                <a:spcPts val="0"/>
              </a:spcAft>
              <a:buClr>
                <a:srgbClr val="0000FF"/>
              </a:buClr>
              <a:buSzPts val="1800"/>
              <a:buFont typeface="Comic Sans MS"/>
              <a:buChar char="•"/>
            </a:pPr>
            <a:r>
              <a:rPr lang="en-US" sz="1800" u="sng" dirty="0">
                <a:solidFill>
                  <a:srgbClr val="0000FF"/>
                </a:solidFill>
                <a:latin typeface="Comic Sans MS"/>
                <a:ea typeface="Comic Sans MS"/>
                <a:cs typeface="Comic Sans MS"/>
                <a:sym typeface="Comic Sans MS"/>
              </a:rPr>
              <a:t>Abstract </a:t>
            </a:r>
          </a:p>
          <a:p>
            <a:pPr marL="268605" lvl="0" indent="-256540" algn="l" rtl="0">
              <a:lnSpc>
                <a:spcPct val="150000"/>
              </a:lnSpc>
              <a:spcBef>
                <a:spcPts val="0"/>
              </a:spcBef>
              <a:spcAft>
                <a:spcPts val="0"/>
              </a:spcAft>
              <a:buClr>
                <a:srgbClr val="0000FF"/>
              </a:buClr>
              <a:buSzPts val="1800"/>
              <a:buFont typeface="Comic Sans MS"/>
              <a:buChar char="•"/>
            </a:pPr>
            <a:r>
              <a:rPr lang="en-US" sz="1800" u="sng" dirty="0">
                <a:solidFill>
                  <a:srgbClr val="0000FF"/>
                </a:solidFill>
                <a:latin typeface="Comic Sans MS"/>
                <a:ea typeface="Comic Sans MS"/>
                <a:cs typeface="Comic Sans MS"/>
                <a:sym typeface="Comic Sans MS"/>
              </a:rPr>
              <a:t>Introduction</a:t>
            </a:r>
            <a:endParaRPr dirty="0"/>
          </a:p>
          <a:p>
            <a:pPr marL="268605" lvl="0" indent="-256540" algn="l" rtl="0">
              <a:lnSpc>
                <a:spcPct val="150000"/>
              </a:lnSpc>
              <a:spcBef>
                <a:spcPts val="940"/>
              </a:spcBef>
              <a:spcAft>
                <a:spcPts val="0"/>
              </a:spcAft>
              <a:buClr>
                <a:srgbClr val="0000FF"/>
              </a:buClr>
              <a:buSzPts val="1800"/>
              <a:buFont typeface="Comic Sans MS"/>
              <a:buChar char="•"/>
            </a:pPr>
            <a:r>
              <a:rPr lang="en-US" sz="1800" u="sng" dirty="0">
                <a:solidFill>
                  <a:srgbClr val="0000FF"/>
                </a:solidFill>
                <a:latin typeface="Comic Sans MS"/>
                <a:ea typeface="Comic Sans MS"/>
                <a:cs typeface="Comic Sans MS"/>
                <a:sym typeface="Comic Sans MS"/>
              </a:rPr>
              <a:t>Problem Statement</a:t>
            </a:r>
            <a:endParaRPr dirty="0"/>
          </a:p>
          <a:p>
            <a:pPr marL="268605" lvl="0" indent="-256540" algn="l" rtl="0">
              <a:lnSpc>
                <a:spcPct val="150000"/>
              </a:lnSpc>
              <a:spcBef>
                <a:spcPts val="940"/>
              </a:spcBef>
              <a:spcAft>
                <a:spcPts val="0"/>
              </a:spcAft>
              <a:buClr>
                <a:srgbClr val="0000FF"/>
              </a:buClr>
              <a:buSzPts val="1800"/>
              <a:buFont typeface="Comic Sans MS"/>
              <a:buChar char="•"/>
            </a:pPr>
            <a:r>
              <a:rPr lang="en-US" sz="1800" u="sng" dirty="0">
                <a:solidFill>
                  <a:srgbClr val="0000FF"/>
                </a:solidFill>
                <a:latin typeface="Comic Sans MS"/>
                <a:ea typeface="Comic Sans MS"/>
                <a:cs typeface="Comic Sans MS"/>
                <a:sym typeface="Comic Sans MS"/>
              </a:rPr>
              <a:t>Literature Survey</a:t>
            </a:r>
            <a:endParaRPr dirty="0"/>
          </a:p>
          <a:p>
            <a:pPr marL="268605" lvl="0" indent="-256540" algn="l" rtl="0">
              <a:lnSpc>
                <a:spcPct val="150000"/>
              </a:lnSpc>
              <a:spcBef>
                <a:spcPts val="940"/>
              </a:spcBef>
              <a:spcAft>
                <a:spcPts val="0"/>
              </a:spcAft>
              <a:buClr>
                <a:srgbClr val="0000FF"/>
              </a:buClr>
              <a:buSzPts val="1800"/>
              <a:buFont typeface="Comic Sans MS"/>
              <a:buChar char="•"/>
            </a:pPr>
            <a:r>
              <a:rPr lang="en-US" sz="1800" u="sng" dirty="0">
                <a:solidFill>
                  <a:srgbClr val="0000FF"/>
                </a:solidFill>
                <a:latin typeface="Comic Sans MS"/>
                <a:ea typeface="Comic Sans MS"/>
                <a:cs typeface="Comic Sans MS"/>
                <a:sym typeface="Comic Sans MS"/>
              </a:rPr>
              <a:t>Motivation of the Project</a:t>
            </a:r>
            <a:endParaRPr dirty="0"/>
          </a:p>
          <a:p>
            <a:pPr marL="268605" lvl="0" indent="-256540" algn="l" rtl="0">
              <a:lnSpc>
                <a:spcPct val="150000"/>
              </a:lnSpc>
              <a:spcBef>
                <a:spcPts val="940"/>
              </a:spcBef>
              <a:spcAft>
                <a:spcPts val="0"/>
              </a:spcAft>
              <a:buClr>
                <a:srgbClr val="0000FF"/>
              </a:buClr>
              <a:buSzPts val="1800"/>
              <a:buFont typeface="Comic Sans MS"/>
              <a:buChar char="•"/>
            </a:pPr>
            <a:r>
              <a:rPr lang="en-US" sz="1800" u="sng" dirty="0">
                <a:solidFill>
                  <a:srgbClr val="0000FF"/>
                </a:solidFill>
                <a:latin typeface="Comic Sans MS"/>
                <a:ea typeface="Comic Sans MS"/>
                <a:cs typeface="Comic Sans MS"/>
                <a:sym typeface="Comic Sans MS"/>
              </a:rPr>
              <a:t>Objective and Scope of the Project</a:t>
            </a:r>
            <a:endParaRPr dirty="0"/>
          </a:p>
          <a:p>
            <a:pPr marL="268605" lvl="0" indent="-256540" algn="l" rtl="0">
              <a:lnSpc>
                <a:spcPct val="150000"/>
              </a:lnSpc>
              <a:spcBef>
                <a:spcPts val="940"/>
              </a:spcBef>
              <a:spcAft>
                <a:spcPts val="0"/>
              </a:spcAft>
              <a:buClr>
                <a:srgbClr val="0000FF"/>
              </a:buClr>
              <a:buSzPts val="1800"/>
              <a:buFont typeface="Comic Sans MS"/>
              <a:buChar char="•"/>
            </a:pPr>
            <a:r>
              <a:rPr lang="en-US" sz="1800" u="sng" dirty="0">
                <a:solidFill>
                  <a:srgbClr val="0000FF"/>
                </a:solidFill>
                <a:latin typeface="Comic Sans MS"/>
                <a:ea typeface="Comic Sans MS"/>
                <a:cs typeface="Comic Sans MS"/>
                <a:sym typeface="Comic Sans MS"/>
              </a:rPr>
              <a:t>Software  &amp; Hardware Requirements</a:t>
            </a:r>
            <a:endParaRPr dirty="0"/>
          </a:p>
          <a:p>
            <a:pPr marL="228600" lvl="0" indent="-50800" algn="l" rtl="0">
              <a:lnSpc>
                <a:spcPct val="150000"/>
              </a:lnSpc>
              <a:spcBef>
                <a:spcPts val="1000"/>
              </a:spcBef>
              <a:spcAft>
                <a:spcPts val="0"/>
              </a:spcAft>
              <a:buClr>
                <a:schemeClr val="dk1"/>
              </a:buClr>
              <a:buSzPts val="2800"/>
              <a:buNone/>
            </a:pPr>
            <a:endParaRPr dirty="0"/>
          </a:p>
        </p:txBody>
      </p:sp>
      <p:grpSp>
        <p:nvGrpSpPr>
          <p:cNvPr id="105" name="Google Shape;105;p14"/>
          <p:cNvGrpSpPr/>
          <p:nvPr/>
        </p:nvGrpSpPr>
        <p:grpSpPr>
          <a:xfrm>
            <a:off x="15033" y="223935"/>
            <a:ext cx="12176967" cy="6630358"/>
            <a:chOff x="0" y="118871"/>
            <a:chExt cx="9144000" cy="4978908"/>
          </a:xfrm>
        </p:grpSpPr>
        <p:pic>
          <p:nvPicPr>
            <p:cNvPr id="106" name="Google Shape;106;p14"/>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07" name="Google Shape;107;p14"/>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08" name="Google Shape;108;p14"/>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09" name="Google Shape;109;p14"/>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10" name="Google Shape;110;p14"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11" name="Google Shape;111;p14"/>
          <p:cNvSpPr txBox="1"/>
          <p:nvPr/>
        </p:nvSpPr>
        <p:spPr>
          <a:xfrm>
            <a:off x="4450773" y="221405"/>
            <a:ext cx="2376170" cy="509905"/>
          </a:xfrm>
          <a:prstGeom prst="rect">
            <a:avLst/>
          </a:prstGeom>
          <a:noFill/>
          <a:ln>
            <a:noFill/>
          </a:ln>
        </p:spPr>
        <p:txBody>
          <a:bodyPr spcFirstLastPara="1" wrap="square" lIns="0" tIns="15875" rIns="0" bIns="0" anchor="t" anchorCtr="0">
            <a:spAutoFit/>
          </a:bodyPr>
          <a:lstStyle/>
          <a:p>
            <a:pPr marL="12700" marR="0" lvl="0" indent="0" algn="ctr" rtl="0">
              <a:spcBef>
                <a:spcPts val="0"/>
              </a:spcBef>
              <a:spcAft>
                <a:spcPts val="0"/>
              </a:spcAft>
              <a:buNone/>
            </a:pPr>
            <a:r>
              <a:rPr lang="en-US" sz="3150" b="1" i="0">
                <a:solidFill>
                  <a:srgbClr val="365F92"/>
                </a:solidFill>
                <a:latin typeface="Cambria"/>
                <a:ea typeface="Cambria"/>
                <a:cs typeface="Cambria"/>
                <a:sym typeface="Cambria"/>
              </a:rPr>
              <a:t>CONTENTS</a:t>
            </a:r>
            <a:endParaRPr sz="3150" b="1" i="0">
              <a:solidFill>
                <a:srgbClr val="365F92"/>
              </a:solidFill>
              <a:latin typeface="Cambria"/>
              <a:ea typeface="Cambria"/>
              <a:cs typeface="Cambria"/>
              <a:sym typeface="Cambria"/>
            </a:endParaRPr>
          </a:p>
        </p:txBody>
      </p:sp>
      <p:sp>
        <p:nvSpPr>
          <p:cNvPr id="112" name="Google Shape;112;p14"/>
          <p:cNvSpPr txBox="1"/>
          <p:nvPr/>
        </p:nvSpPr>
        <p:spPr>
          <a:xfrm>
            <a:off x="744681" y="3573015"/>
            <a:ext cx="6287423" cy="3063579"/>
          </a:xfrm>
          <a:prstGeom prst="rect">
            <a:avLst/>
          </a:prstGeom>
          <a:noFill/>
          <a:ln>
            <a:noFill/>
          </a:ln>
        </p:spPr>
        <p:txBody>
          <a:bodyPr spcFirstLastPara="1" wrap="square" lIns="91425" tIns="45700" rIns="91425" bIns="45700" anchor="t" anchorCtr="0">
            <a:normAutofit fontScale="55000" lnSpcReduction="20000"/>
          </a:bodyPr>
          <a:lstStyle/>
          <a:p>
            <a:pPr marL="268605" marR="0" lvl="0" indent="-256540" algn="l" rtl="0">
              <a:lnSpc>
                <a:spcPct val="120000"/>
              </a:lnSpc>
              <a:spcBef>
                <a:spcPts val="0"/>
              </a:spcBef>
              <a:spcAft>
                <a:spcPts val="0"/>
              </a:spcAft>
              <a:buClr>
                <a:srgbClr val="0000FF"/>
              </a:buClr>
              <a:buSzPct val="100000"/>
              <a:buFont typeface="Arial"/>
              <a:buChar char="•"/>
            </a:pPr>
            <a:r>
              <a:rPr lang="en-US" sz="1800" u="sng" dirty="0">
                <a:solidFill>
                  <a:srgbClr val="0000FF"/>
                </a:solidFill>
                <a:latin typeface="Comic Sans MS"/>
                <a:ea typeface="Comic Sans MS"/>
                <a:cs typeface="Comic Sans MS"/>
                <a:sym typeface="Comic Sans MS"/>
              </a:rPr>
              <a:t>System Design</a:t>
            </a:r>
            <a:endParaRPr dirty="0"/>
          </a:p>
          <a:p>
            <a:pPr marL="297815" lvl="1" indent="-285750">
              <a:lnSpc>
                <a:spcPct val="120000"/>
              </a:lnSpc>
              <a:spcBef>
                <a:spcPts val="1040"/>
              </a:spcBef>
              <a:buClr>
                <a:srgbClr val="0000FF"/>
              </a:buClr>
              <a:buSzPct val="100000"/>
              <a:buFont typeface="Courier New" panose="02070309020205020404" pitchFamily="49" charset="0"/>
              <a:buChar char="o"/>
            </a:pPr>
            <a:r>
              <a:rPr lang="en-US" sz="1800" dirty="0">
                <a:solidFill>
                  <a:srgbClr val="0000FF"/>
                </a:solidFill>
                <a:latin typeface="Comic Sans MS"/>
                <a:ea typeface="Comic Sans MS"/>
                <a:cs typeface="Comic Sans MS"/>
                <a:sym typeface="Comic Sans MS"/>
              </a:rPr>
              <a:t>  </a:t>
            </a:r>
            <a:r>
              <a:rPr lang="en-US" sz="1800" u="sng" dirty="0">
                <a:solidFill>
                  <a:srgbClr val="0000FF"/>
                </a:solidFill>
                <a:latin typeface="Comic Sans MS"/>
                <a:ea typeface="Comic Sans MS"/>
                <a:cs typeface="Comic Sans MS"/>
                <a:sym typeface="Comic Sans MS"/>
              </a:rPr>
              <a:t>Existing System</a:t>
            </a:r>
            <a:endParaRPr dirty="0"/>
          </a:p>
          <a:p>
            <a:pPr marL="297815" marR="0" lvl="0" indent="-285750" algn="l" rtl="0">
              <a:lnSpc>
                <a:spcPct val="120000"/>
              </a:lnSpc>
              <a:spcBef>
                <a:spcPts val="1040"/>
              </a:spcBef>
              <a:spcAft>
                <a:spcPts val="0"/>
              </a:spcAft>
              <a:buClr>
                <a:srgbClr val="0000FF"/>
              </a:buClr>
              <a:buSzPct val="100000"/>
              <a:buFont typeface="Courier New" panose="02070309020205020404" pitchFamily="49" charset="0"/>
              <a:buChar char="o"/>
            </a:pPr>
            <a:r>
              <a:rPr lang="en-US" sz="1800" dirty="0">
                <a:solidFill>
                  <a:srgbClr val="0000FF"/>
                </a:solidFill>
                <a:latin typeface="Comic Sans MS"/>
                <a:ea typeface="Comic Sans MS"/>
                <a:cs typeface="Comic Sans MS"/>
                <a:sym typeface="Comic Sans MS"/>
              </a:rPr>
              <a:t>  </a:t>
            </a:r>
            <a:r>
              <a:rPr lang="en-US" sz="1800" u="sng" dirty="0">
                <a:solidFill>
                  <a:srgbClr val="0000FF"/>
                </a:solidFill>
                <a:latin typeface="Comic Sans MS"/>
                <a:ea typeface="Comic Sans MS"/>
                <a:cs typeface="Comic Sans MS"/>
                <a:sym typeface="Comic Sans MS"/>
              </a:rPr>
              <a:t>Proposed System</a:t>
            </a:r>
            <a:endParaRPr dirty="0"/>
          </a:p>
          <a:p>
            <a:pPr marL="297815" marR="0" lvl="0" indent="-285750" algn="l" rtl="0">
              <a:lnSpc>
                <a:spcPct val="120000"/>
              </a:lnSpc>
              <a:spcBef>
                <a:spcPts val="1040"/>
              </a:spcBef>
              <a:spcAft>
                <a:spcPts val="0"/>
              </a:spcAft>
              <a:buClr>
                <a:srgbClr val="0000FF"/>
              </a:buClr>
              <a:buSzPct val="100000"/>
              <a:buFont typeface="Courier New" panose="02070309020205020404" pitchFamily="49" charset="0"/>
              <a:buChar char="o"/>
            </a:pPr>
            <a:r>
              <a:rPr lang="en-US" sz="1800" dirty="0">
                <a:solidFill>
                  <a:srgbClr val="0000FF"/>
                </a:solidFill>
                <a:latin typeface="Comic Sans MS"/>
                <a:ea typeface="Comic Sans MS"/>
                <a:cs typeface="Comic Sans MS"/>
                <a:sym typeface="Comic Sans MS"/>
              </a:rPr>
              <a:t>  </a:t>
            </a:r>
            <a:r>
              <a:rPr lang="en-US" sz="1800" u="sng" dirty="0">
                <a:solidFill>
                  <a:srgbClr val="0000FF"/>
                </a:solidFill>
                <a:latin typeface="Comic Sans MS"/>
                <a:ea typeface="Comic Sans MS"/>
                <a:cs typeface="Comic Sans MS"/>
                <a:sym typeface="Comic Sans MS"/>
              </a:rPr>
              <a:t>Methodology</a:t>
            </a:r>
          </a:p>
          <a:p>
            <a:pPr marL="297815" marR="0" lvl="0" indent="-285750" algn="l" rtl="0">
              <a:lnSpc>
                <a:spcPct val="120000"/>
              </a:lnSpc>
              <a:spcBef>
                <a:spcPts val="1040"/>
              </a:spcBef>
              <a:spcAft>
                <a:spcPts val="0"/>
              </a:spcAft>
              <a:buClr>
                <a:srgbClr val="0000FF"/>
              </a:buClr>
              <a:buSzPct val="100000"/>
              <a:buFont typeface="Courier New" panose="02070309020205020404" pitchFamily="49" charset="0"/>
              <a:buChar char="o"/>
            </a:pPr>
            <a:r>
              <a:rPr lang="en-US" sz="1800" dirty="0">
                <a:solidFill>
                  <a:srgbClr val="0000FF"/>
                </a:solidFill>
                <a:latin typeface="Comic Sans MS"/>
                <a:ea typeface="Comic Sans MS"/>
                <a:cs typeface="Comic Sans MS"/>
                <a:sym typeface="Comic Sans MS"/>
              </a:rPr>
              <a:t>  </a:t>
            </a:r>
            <a:r>
              <a:rPr lang="en-US" sz="1800" u="sng" dirty="0">
                <a:solidFill>
                  <a:srgbClr val="0000FF"/>
                </a:solidFill>
                <a:latin typeface="Comic Sans MS"/>
                <a:ea typeface="Comic Sans MS"/>
                <a:cs typeface="Comic Sans MS"/>
                <a:sym typeface="Comic Sans MS"/>
              </a:rPr>
              <a:t>System Architecture</a:t>
            </a:r>
          </a:p>
          <a:p>
            <a:pPr marL="297815" marR="0" lvl="0" indent="-285750" algn="l" rtl="0">
              <a:lnSpc>
                <a:spcPct val="120000"/>
              </a:lnSpc>
              <a:spcBef>
                <a:spcPts val="1040"/>
              </a:spcBef>
              <a:spcAft>
                <a:spcPts val="0"/>
              </a:spcAft>
              <a:buClr>
                <a:srgbClr val="0000FF"/>
              </a:buClr>
              <a:buSzPct val="100000"/>
              <a:buFont typeface="Courier New" panose="02070309020205020404" pitchFamily="49" charset="0"/>
              <a:buChar char="o"/>
            </a:pPr>
            <a:r>
              <a:rPr lang="en-US" sz="1800" dirty="0">
                <a:solidFill>
                  <a:srgbClr val="0000FF"/>
                </a:solidFill>
                <a:latin typeface="Comic Sans MS"/>
                <a:ea typeface="Comic Sans MS"/>
                <a:cs typeface="Comic Sans MS"/>
                <a:sym typeface="Comic Sans MS"/>
              </a:rPr>
              <a:t>  </a:t>
            </a:r>
            <a:r>
              <a:rPr lang="en-US" sz="1800" u="sng" dirty="0">
                <a:solidFill>
                  <a:srgbClr val="0000FF"/>
                </a:solidFill>
                <a:latin typeface="Comic Sans MS"/>
                <a:ea typeface="Comic Sans MS"/>
                <a:cs typeface="Comic Sans MS"/>
                <a:sym typeface="Comic Sans MS"/>
              </a:rPr>
              <a:t>Technology Used</a:t>
            </a:r>
            <a:endParaRPr dirty="0"/>
          </a:p>
          <a:p>
            <a:pPr marL="297815" marR="0" lvl="0" indent="-285750" algn="l" rtl="0">
              <a:lnSpc>
                <a:spcPct val="120000"/>
              </a:lnSpc>
              <a:spcBef>
                <a:spcPts val="1040"/>
              </a:spcBef>
              <a:spcAft>
                <a:spcPts val="0"/>
              </a:spcAft>
              <a:buClr>
                <a:srgbClr val="0000FF"/>
              </a:buClr>
              <a:buSzPct val="100000"/>
              <a:buFont typeface="Courier New" panose="02070309020205020404" pitchFamily="49" charset="0"/>
              <a:buChar char="o"/>
            </a:pPr>
            <a:r>
              <a:rPr lang="en-US" sz="1800" dirty="0">
                <a:solidFill>
                  <a:srgbClr val="0000FF"/>
                </a:solidFill>
                <a:latin typeface="Comic Sans MS"/>
                <a:ea typeface="Comic Sans MS"/>
                <a:cs typeface="Comic Sans MS"/>
                <a:sym typeface="Comic Sans MS"/>
              </a:rPr>
              <a:t>  </a:t>
            </a:r>
            <a:r>
              <a:rPr lang="en-US" sz="1800" u="sng" dirty="0">
                <a:solidFill>
                  <a:srgbClr val="0000FF"/>
                </a:solidFill>
                <a:latin typeface="Comic Sans MS"/>
                <a:ea typeface="Comic Sans MS"/>
                <a:cs typeface="Comic Sans MS"/>
                <a:sym typeface="Comic Sans MS"/>
              </a:rPr>
              <a:t>Working Model</a:t>
            </a:r>
            <a:endParaRPr dirty="0"/>
          </a:p>
          <a:p>
            <a:pPr marL="268605" marR="0" lvl="0" indent="-256540" algn="l" rtl="0">
              <a:lnSpc>
                <a:spcPct val="120000"/>
              </a:lnSpc>
              <a:spcBef>
                <a:spcPts val="1040"/>
              </a:spcBef>
              <a:spcAft>
                <a:spcPts val="0"/>
              </a:spcAft>
              <a:buClr>
                <a:srgbClr val="0000FF"/>
              </a:buClr>
              <a:buSzPct val="100000"/>
              <a:buFont typeface="Arial"/>
              <a:buChar char="•"/>
            </a:pPr>
            <a:r>
              <a:rPr lang="en-US" sz="1800" u="sng" dirty="0">
                <a:solidFill>
                  <a:srgbClr val="0000FF"/>
                </a:solidFill>
                <a:latin typeface="Comic Sans MS"/>
                <a:ea typeface="Comic Sans MS"/>
                <a:cs typeface="Comic Sans MS"/>
                <a:sym typeface="Comic Sans MS"/>
              </a:rPr>
              <a:t>Results</a:t>
            </a:r>
          </a:p>
          <a:p>
            <a:pPr marL="268605" marR="0" lvl="0" indent="-256540" algn="l" rtl="0">
              <a:lnSpc>
                <a:spcPct val="120000"/>
              </a:lnSpc>
              <a:spcBef>
                <a:spcPts val="1040"/>
              </a:spcBef>
              <a:spcAft>
                <a:spcPts val="0"/>
              </a:spcAft>
              <a:buClr>
                <a:srgbClr val="0000FF"/>
              </a:buClr>
              <a:buSzPct val="100000"/>
              <a:buFont typeface="Arial"/>
              <a:buChar char="•"/>
            </a:pPr>
            <a:r>
              <a:rPr lang="en-US" sz="1800" u="sng" dirty="0">
                <a:solidFill>
                  <a:srgbClr val="0000FF"/>
                </a:solidFill>
                <a:latin typeface="Comic Sans MS"/>
                <a:ea typeface="Comic Sans MS"/>
                <a:cs typeface="Comic Sans MS"/>
                <a:sym typeface="Comic Sans MS"/>
              </a:rPr>
              <a:t>Comparative Analysis</a:t>
            </a:r>
            <a:endParaRPr dirty="0"/>
          </a:p>
          <a:p>
            <a:pPr marL="268605" marR="0" lvl="0" indent="-256540" algn="l" rtl="0">
              <a:lnSpc>
                <a:spcPct val="120000"/>
              </a:lnSpc>
              <a:spcBef>
                <a:spcPts val="1040"/>
              </a:spcBef>
              <a:spcAft>
                <a:spcPts val="0"/>
              </a:spcAft>
              <a:buClr>
                <a:srgbClr val="0000FF"/>
              </a:buClr>
              <a:buSzPct val="100000"/>
              <a:buFont typeface="Arial"/>
              <a:buChar char="•"/>
            </a:pPr>
            <a:r>
              <a:rPr lang="en-US" sz="1800" u="sng" dirty="0">
                <a:solidFill>
                  <a:srgbClr val="0000FF"/>
                </a:solidFill>
                <a:latin typeface="Comic Sans MS"/>
                <a:ea typeface="Comic Sans MS"/>
                <a:cs typeface="Comic Sans MS"/>
                <a:sym typeface="Comic Sans MS"/>
              </a:rPr>
              <a:t>Project Status</a:t>
            </a:r>
            <a:endParaRPr dirty="0"/>
          </a:p>
          <a:p>
            <a:pPr marL="268605" marR="0" lvl="0" indent="-256540" algn="l" rtl="0">
              <a:lnSpc>
                <a:spcPct val="120000"/>
              </a:lnSpc>
              <a:spcBef>
                <a:spcPts val="1040"/>
              </a:spcBef>
              <a:spcAft>
                <a:spcPts val="0"/>
              </a:spcAft>
              <a:buClr>
                <a:srgbClr val="0000FF"/>
              </a:buClr>
              <a:buSzPct val="100000"/>
              <a:buFont typeface="Arial"/>
              <a:buChar char="•"/>
            </a:pPr>
            <a:r>
              <a:rPr lang="en-US" sz="1800" u="sng" dirty="0">
                <a:solidFill>
                  <a:srgbClr val="0000FF"/>
                </a:solidFill>
                <a:latin typeface="Comic Sans MS"/>
                <a:ea typeface="Comic Sans MS"/>
                <a:cs typeface="Comic Sans MS"/>
                <a:sym typeface="Comic Sans MS"/>
              </a:rPr>
              <a:t>References</a:t>
            </a:r>
            <a:endParaRPr dirty="0"/>
          </a:p>
          <a:p>
            <a:pPr marL="228600" marR="0" lvl="0" indent="-64135" algn="l" rtl="0">
              <a:lnSpc>
                <a:spcPct val="90000"/>
              </a:lnSpc>
              <a:spcBef>
                <a:spcPts val="1000"/>
              </a:spcBef>
              <a:spcAft>
                <a:spcPts val="0"/>
              </a:spcAft>
              <a:buClr>
                <a:schemeClr val="dk1"/>
              </a:buClr>
              <a:buSzPct val="100000"/>
              <a:buFont typeface="Arial"/>
              <a:buNone/>
            </a:pPr>
            <a:endParaRPr sz="280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r>
              <a:rPr lang="en-US" sz="1800" dirty="0"/>
              <a:t>With the rapid growth of network usage and evolving cyber threats, traditional intrusion detection systems often fail to detect novel attacks effectively. This project presents a machine learning-based anomaly detection system that leverages algorithms such as Random Forest, Support Vector Machine, and K-Means clustering to accurately identify anomalous network traffic. Using benchmark datasets like NSL-KDD and CICIDS2017, the system incorporates data preprocessing, feature selection, and balancing techniques like SMOTE and PCA to enhance performance. The proposed model demonstrates high accuracy, precision, and recall, with reduced false positives compared to conventional methods. It also provides visualization tools for better interpretability and supports near real-time detection. This system offers a scalable and adaptable solution for improving network security, with scope for future advancements through deep learning and real-time deployment.</a:t>
            </a:r>
          </a:p>
          <a:p>
            <a:pPr marL="228600" lvl="0" indent="-50800" algn="l" rtl="0">
              <a:lnSpc>
                <a:spcPct val="90000"/>
              </a:lnSpc>
              <a:spcBef>
                <a:spcPts val="1000"/>
              </a:spcBef>
              <a:spcAft>
                <a:spcPts val="0"/>
              </a:spcAft>
              <a:buClr>
                <a:schemeClr val="dk1"/>
              </a:buClr>
              <a:buSzPts val="2800"/>
              <a:buNone/>
            </a:pPr>
            <a:r>
              <a:rPr lang="en-US" sz="1800" b="1" dirty="0"/>
              <a:t>KEYWORDS: </a:t>
            </a:r>
            <a:r>
              <a:rPr lang="en-US" sz="1800" dirty="0"/>
              <a:t>Anomaly Detection , Machine Learning ,Network Security , Isolation Forest , Dataset , Real time Detection</a:t>
            </a:r>
            <a:endParaRPr sz="1800" b="1" dirty="0"/>
          </a:p>
        </p:txBody>
      </p:sp>
      <p:grpSp>
        <p:nvGrpSpPr>
          <p:cNvPr id="118" name="Google Shape;118;p15"/>
          <p:cNvGrpSpPr/>
          <p:nvPr/>
        </p:nvGrpSpPr>
        <p:grpSpPr>
          <a:xfrm>
            <a:off x="118942" y="151199"/>
            <a:ext cx="12176967" cy="6630358"/>
            <a:chOff x="0" y="118871"/>
            <a:chExt cx="9144000" cy="4978908"/>
          </a:xfrm>
        </p:grpSpPr>
        <p:pic>
          <p:nvPicPr>
            <p:cNvPr id="119" name="Google Shape;119;p15"/>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20" name="Google Shape;120;p15"/>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21" name="Google Shape;121;p15"/>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22" name="Google Shape;122;p15"/>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23" name="Google Shape;123;p15"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24" name="Google Shape;124;p15"/>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25" name="Google Shape;125;p15"/>
          <p:cNvSpPr txBox="1"/>
          <p:nvPr/>
        </p:nvSpPr>
        <p:spPr>
          <a:xfrm>
            <a:off x="3991351" y="276864"/>
            <a:ext cx="3387090" cy="509905"/>
          </a:xfrm>
          <a:prstGeom prst="rect">
            <a:avLst/>
          </a:prstGeom>
          <a:noFill/>
          <a:ln>
            <a:noFill/>
          </a:ln>
        </p:spPr>
        <p:txBody>
          <a:bodyPr spcFirstLastPara="1" wrap="square" lIns="0" tIns="15875" rIns="0" bIns="0" anchor="t" anchorCtr="0">
            <a:spAutoFit/>
          </a:bodyPr>
          <a:lstStyle/>
          <a:p>
            <a:pPr marL="12700" marR="0" lvl="0" indent="0" algn="ctr" rtl="0">
              <a:lnSpc>
                <a:spcPct val="100000"/>
              </a:lnSpc>
              <a:spcBef>
                <a:spcPts val="0"/>
              </a:spcBef>
              <a:spcAft>
                <a:spcPts val="0"/>
              </a:spcAft>
              <a:buClr>
                <a:srgbClr val="365F92"/>
              </a:buClr>
              <a:buSzPts val="3150"/>
              <a:buFont typeface="Cambria"/>
              <a:buNone/>
            </a:pPr>
            <a:r>
              <a:rPr lang="en-US" sz="3150" b="1" i="0" u="none" strike="noStrike" cap="none">
                <a:solidFill>
                  <a:srgbClr val="365F92"/>
                </a:solidFill>
                <a:latin typeface="Cambria"/>
                <a:ea typeface="Cambria"/>
                <a:cs typeface="Cambria"/>
                <a:sym typeface="Cambria"/>
              </a:rPr>
              <a:t>ABSTRACT</a:t>
            </a:r>
            <a:endParaRPr sz="3150" b="1" i="0" u="none" strike="noStrike" cap="none">
              <a:solidFill>
                <a:srgbClr val="365F92"/>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algn="just">
              <a:buNone/>
            </a:pPr>
            <a:r>
              <a:rPr lang="en-US" sz="1800" dirty="0"/>
              <a:t>The increasing reliance on computer networks has made network security a critical concern, as cyber-attacks and intrusions continue to rise in frequency and complexity. Traditional intrusion detection systems (IDS), which depend heavily on signature-based methods, struggle to detect novel and evolving threats, often resulting in high false positive rates and limited adaptability. Anomaly detection, which identifies deviations from normal behavior, offers a more flexible and effective approach for uncovering both known and unknown attacks.</a:t>
            </a:r>
          </a:p>
          <a:p>
            <a:pPr algn="just">
              <a:buNone/>
            </a:pPr>
            <a:r>
              <a:rPr lang="en-US" sz="1800" dirty="0"/>
              <a:t>Machine learning techniques have emerged as powerful tools for anomaly detection due to their ability to automatically learn patterns from large volumes of network traffic and adapt to new attack vectors. This project aims to develop a machine learning-based anomaly detection system that can accurately classify network traffic as normal or malicious. </a:t>
            </a:r>
          </a:p>
          <a:p>
            <a:pPr algn="just">
              <a:buNone/>
            </a:pPr>
            <a:r>
              <a:rPr lang="en-US" sz="1800" dirty="0"/>
              <a:t>By using benchmark datasets like NSL-KDD and CICIDS2017, the system is evaluated for accuracy, precision, and efficiency. The ultimate objective is to create a scalable and reliable anomaly detection system that provides real-time insights and strengthens network security against advanced threats.</a:t>
            </a:r>
          </a:p>
          <a:p>
            <a:pPr marL="228600" lvl="0" indent="-50800" algn="l" rtl="0">
              <a:lnSpc>
                <a:spcPct val="90000"/>
              </a:lnSpc>
              <a:spcBef>
                <a:spcPts val="0"/>
              </a:spcBef>
              <a:spcAft>
                <a:spcPts val="0"/>
              </a:spcAft>
              <a:buClr>
                <a:schemeClr val="dk1"/>
              </a:buClr>
              <a:buSzPts val="2800"/>
              <a:buNone/>
            </a:pPr>
            <a:endParaRPr sz="1800" dirty="0"/>
          </a:p>
        </p:txBody>
      </p:sp>
      <p:grpSp>
        <p:nvGrpSpPr>
          <p:cNvPr id="131" name="Google Shape;131;p16"/>
          <p:cNvGrpSpPr/>
          <p:nvPr/>
        </p:nvGrpSpPr>
        <p:grpSpPr>
          <a:xfrm>
            <a:off x="118942" y="151199"/>
            <a:ext cx="12176967" cy="6630358"/>
            <a:chOff x="0" y="118871"/>
            <a:chExt cx="9144000" cy="4978908"/>
          </a:xfrm>
        </p:grpSpPr>
        <p:pic>
          <p:nvPicPr>
            <p:cNvPr id="132" name="Google Shape;132;p16"/>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33" name="Google Shape;133;p16"/>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34" name="Google Shape;134;p16"/>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35" name="Google Shape;135;p16"/>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36" name="Google Shape;136;p16"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37" name="Google Shape;137;p16"/>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38" name="Google Shape;138;p16"/>
          <p:cNvSpPr txBox="1"/>
          <p:nvPr/>
        </p:nvSpPr>
        <p:spPr>
          <a:xfrm>
            <a:off x="3991351" y="276864"/>
            <a:ext cx="3387090" cy="509905"/>
          </a:xfrm>
          <a:prstGeom prst="rect">
            <a:avLst/>
          </a:prstGeom>
          <a:noFill/>
          <a:ln>
            <a:noFill/>
          </a:ln>
        </p:spPr>
        <p:txBody>
          <a:bodyPr spcFirstLastPara="1" wrap="square" lIns="0" tIns="15875" rIns="0" bIns="0" anchor="t" anchorCtr="0">
            <a:spAutoFit/>
          </a:bodyPr>
          <a:lstStyle/>
          <a:p>
            <a:pPr marL="12700" marR="0" lvl="0" indent="0" algn="ctr" rtl="0">
              <a:lnSpc>
                <a:spcPct val="100000"/>
              </a:lnSpc>
              <a:spcBef>
                <a:spcPts val="0"/>
              </a:spcBef>
              <a:spcAft>
                <a:spcPts val="0"/>
              </a:spcAft>
              <a:buClr>
                <a:srgbClr val="365F92"/>
              </a:buClr>
              <a:buSzPts val="3150"/>
              <a:buFont typeface="Cambria"/>
              <a:buNone/>
            </a:pPr>
            <a:r>
              <a:rPr lang="en-US" sz="3150" b="1" i="0" u="none" strike="noStrike" cap="none">
                <a:solidFill>
                  <a:srgbClr val="365F92"/>
                </a:solidFill>
                <a:latin typeface="Cambria"/>
                <a:ea typeface="Cambria"/>
                <a:cs typeface="Cambria"/>
                <a:sym typeface="Cambria"/>
              </a:rPr>
              <a:t>INTRODUCTION</a:t>
            </a:r>
            <a:endParaRPr sz="3150" b="1" i="0" u="none" strike="noStrike" cap="none">
              <a:solidFill>
                <a:srgbClr val="365F92"/>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a:buNone/>
            </a:pPr>
            <a:r>
              <a:rPr lang="en-US" dirty="0"/>
              <a:t>Traditional intrusion detection systems (IDS) primarily rely on signature-based techniques that are effective only against known attacks but fail to identify novel, unknown, or evolving threats. These systems also suffer from high false positive rates, lack of adaptability, and require constant manual updates to maintain effectiveness. As network environments grow more complex and the volume of network traffic increases rapidly, there is a pressing need for intelligent, automated systems that can accurately and efficiently detect anomalies in real-time.</a:t>
            </a:r>
          </a:p>
          <a:p>
            <a:pPr marL="114300" indent="0">
              <a:buNone/>
            </a:pPr>
            <a:r>
              <a:rPr lang="en-US" dirty="0"/>
              <a:t>The problem addressed in this project is the design and implementation of a machine learning-based anomaly detection system capable of identifying both known and unknown intrusions in network traffic. The system must overcome challenges such as data imbalance, high dimensionality, and evolving attack patterns, while ensuring scalability, low false positive rates, and near real-time operation to enhance the overall security of network infrastructures.</a:t>
            </a:r>
          </a:p>
          <a:p>
            <a:pPr marL="228600" lvl="0" indent="-50800" algn="l" rtl="0">
              <a:lnSpc>
                <a:spcPct val="90000"/>
              </a:lnSpc>
              <a:spcBef>
                <a:spcPts val="0"/>
              </a:spcBef>
              <a:spcAft>
                <a:spcPts val="0"/>
              </a:spcAft>
              <a:buClr>
                <a:schemeClr val="dk1"/>
              </a:buClr>
              <a:buSzPts val="2800"/>
              <a:buNone/>
            </a:pPr>
            <a:endParaRPr dirty="0"/>
          </a:p>
        </p:txBody>
      </p:sp>
      <p:grpSp>
        <p:nvGrpSpPr>
          <p:cNvPr id="144" name="Google Shape;144;p17"/>
          <p:cNvGrpSpPr/>
          <p:nvPr/>
        </p:nvGrpSpPr>
        <p:grpSpPr>
          <a:xfrm>
            <a:off x="15033" y="223935"/>
            <a:ext cx="12176967" cy="6630358"/>
            <a:chOff x="0" y="118871"/>
            <a:chExt cx="9144000" cy="4978908"/>
          </a:xfrm>
        </p:grpSpPr>
        <p:pic>
          <p:nvPicPr>
            <p:cNvPr id="145" name="Google Shape;145;p17"/>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46" name="Google Shape;146;p17"/>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47" name="Google Shape;147;p17"/>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48" name="Google Shape;148;p17"/>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49" name="Google Shape;149;p17"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50" name="Google Shape;150;p17"/>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51" name="Google Shape;151;p17"/>
          <p:cNvSpPr txBox="1"/>
          <p:nvPr/>
        </p:nvSpPr>
        <p:spPr>
          <a:xfrm>
            <a:off x="685800" y="212725"/>
            <a:ext cx="7162800" cy="509905"/>
          </a:xfrm>
          <a:prstGeom prst="rect">
            <a:avLst/>
          </a:prstGeom>
          <a:noFill/>
          <a:ln>
            <a:noFill/>
          </a:ln>
        </p:spPr>
        <p:txBody>
          <a:bodyPr spcFirstLastPara="1" wrap="square" lIns="0" tIns="15875" rIns="0" bIns="0" anchor="t" anchorCtr="0">
            <a:spAutoFit/>
          </a:bodyPr>
          <a:lstStyle/>
          <a:p>
            <a:pPr marL="12700" marR="0" lvl="0" indent="0" algn="ctr" rtl="0">
              <a:lnSpc>
                <a:spcPct val="100000"/>
              </a:lnSpc>
              <a:spcBef>
                <a:spcPts val="0"/>
              </a:spcBef>
              <a:spcAft>
                <a:spcPts val="0"/>
              </a:spcAft>
              <a:buClr>
                <a:srgbClr val="365F92"/>
              </a:buClr>
              <a:buSzPts val="3150"/>
              <a:buFont typeface="Cambria"/>
              <a:buNone/>
            </a:pPr>
            <a:r>
              <a:rPr lang="en-US" sz="3150" b="1" i="0" u="none" strike="noStrike" cap="none" dirty="0">
                <a:solidFill>
                  <a:srgbClr val="365F92"/>
                </a:solidFill>
                <a:latin typeface="Cambria"/>
                <a:ea typeface="Cambria"/>
                <a:cs typeface="Cambria"/>
                <a:sym typeface="Cambria"/>
              </a:rPr>
              <a:t>PROBLEM  STATEMENT</a:t>
            </a:r>
            <a:endParaRPr sz="3150" b="1" i="0" u="none" strike="noStrike" cap="none" dirty="0">
              <a:solidFill>
                <a:srgbClr val="365F92"/>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grpSp>
        <p:nvGrpSpPr>
          <p:cNvPr id="156" name="Google Shape;156;p18"/>
          <p:cNvGrpSpPr/>
          <p:nvPr/>
        </p:nvGrpSpPr>
        <p:grpSpPr>
          <a:xfrm>
            <a:off x="15033" y="223935"/>
            <a:ext cx="12176967" cy="6630358"/>
            <a:chOff x="0" y="118871"/>
            <a:chExt cx="9144000" cy="4978908"/>
          </a:xfrm>
        </p:grpSpPr>
        <p:pic>
          <p:nvPicPr>
            <p:cNvPr id="157" name="Google Shape;157;p18"/>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58" name="Google Shape;158;p18"/>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59" name="Google Shape;159;p18"/>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60" name="Google Shape;160;p18"/>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61" name="Google Shape;161;p18"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62" name="Google Shape;162;p18"/>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63" name="Google Shape;163;p18"/>
          <p:cNvSpPr txBox="1"/>
          <p:nvPr/>
        </p:nvSpPr>
        <p:spPr>
          <a:xfrm>
            <a:off x="685799" y="212725"/>
            <a:ext cx="9476509" cy="446917"/>
          </a:xfrm>
          <a:prstGeom prst="rect">
            <a:avLst/>
          </a:prstGeom>
          <a:noFill/>
          <a:ln>
            <a:noFill/>
          </a:ln>
        </p:spPr>
        <p:txBody>
          <a:bodyPr spcFirstLastPara="1" wrap="square" lIns="0" tIns="15875" rIns="0" bIns="0" anchor="t" anchorCtr="0">
            <a:spAutoFit/>
          </a:bodyPr>
          <a:lstStyle/>
          <a:p>
            <a:pPr marL="12700" marR="0" lvl="0" indent="0" algn="ctr" rtl="0">
              <a:spcBef>
                <a:spcPts val="0"/>
              </a:spcBef>
              <a:spcAft>
                <a:spcPts val="0"/>
              </a:spcAft>
              <a:buNone/>
            </a:pPr>
            <a:r>
              <a:rPr lang="en-US" sz="2800" b="1" i="0">
                <a:solidFill>
                  <a:srgbClr val="365F92"/>
                </a:solidFill>
                <a:latin typeface="Cambria"/>
                <a:ea typeface="Cambria"/>
                <a:cs typeface="Cambria"/>
                <a:sym typeface="Cambria"/>
              </a:rPr>
              <a:t>LITERATURE SURVEY PAPERS/REFERENCES PAPERS</a:t>
            </a:r>
            <a:endParaRPr sz="3150" b="1" i="0" u="none" strike="noStrike" cap="none">
              <a:solidFill>
                <a:srgbClr val="365F92"/>
              </a:solidFill>
              <a:latin typeface="Cambria"/>
              <a:ea typeface="Cambria"/>
              <a:cs typeface="Cambria"/>
              <a:sym typeface="Cambria"/>
            </a:endParaRPr>
          </a:p>
        </p:txBody>
      </p:sp>
      <p:sp>
        <p:nvSpPr>
          <p:cNvPr id="164" name="Google Shape;164;p18"/>
          <p:cNvSpPr/>
          <p:nvPr/>
        </p:nvSpPr>
        <p:spPr>
          <a:xfrm>
            <a:off x="746873" y="1105748"/>
            <a:ext cx="11244235"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167D75AB-B679-248F-ABC6-693C46253680}"/>
              </a:ext>
            </a:extLst>
          </p:cNvPr>
          <p:cNvGraphicFramePr>
            <a:graphicFrameLocks noGrp="1"/>
          </p:cNvGraphicFramePr>
          <p:nvPr>
            <p:extLst>
              <p:ext uri="{D42A27DB-BD31-4B8C-83A1-F6EECF244321}">
                <p14:modId xmlns:p14="http://schemas.microsoft.com/office/powerpoint/2010/main" val="2248069997"/>
              </p:ext>
            </p:extLst>
          </p:nvPr>
        </p:nvGraphicFramePr>
        <p:xfrm>
          <a:off x="1295400" y="1144437"/>
          <a:ext cx="9448802" cy="5335946"/>
        </p:xfrm>
        <a:graphic>
          <a:graphicData uri="http://schemas.openxmlformats.org/drawingml/2006/table">
            <a:tbl>
              <a:tblPr firstRow="1" bandRow="1">
                <a:tableStyleId>{5940675A-B579-460E-94D1-54222C63F5DA}</a:tableStyleId>
              </a:tblPr>
              <a:tblGrid>
                <a:gridCol w="1364639">
                  <a:extLst>
                    <a:ext uri="{9D8B030D-6E8A-4147-A177-3AD203B41FA5}">
                      <a16:colId xmlns:a16="http://schemas.microsoft.com/office/drawing/2014/main" val="1052414550"/>
                    </a:ext>
                  </a:extLst>
                </a:gridCol>
                <a:gridCol w="1347729">
                  <a:extLst>
                    <a:ext uri="{9D8B030D-6E8A-4147-A177-3AD203B41FA5}">
                      <a16:colId xmlns:a16="http://schemas.microsoft.com/office/drawing/2014/main" val="4125906710"/>
                    </a:ext>
                  </a:extLst>
                </a:gridCol>
                <a:gridCol w="1352263">
                  <a:extLst>
                    <a:ext uri="{9D8B030D-6E8A-4147-A177-3AD203B41FA5}">
                      <a16:colId xmlns:a16="http://schemas.microsoft.com/office/drawing/2014/main" val="1639661269"/>
                    </a:ext>
                  </a:extLst>
                </a:gridCol>
                <a:gridCol w="1354877">
                  <a:extLst>
                    <a:ext uri="{9D8B030D-6E8A-4147-A177-3AD203B41FA5}">
                      <a16:colId xmlns:a16="http://schemas.microsoft.com/office/drawing/2014/main" val="3030574531"/>
                    </a:ext>
                  </a:extLst>
                </a:gridCol>
                <a:gridCol w="1354877">
                  <a:extLst>
                    <a:ext uri="{9D8B030D-6E8A-4147-A177-3AD203B41FA5}">
                      <a16:colId xmlns:a16="http://schemas.microsoft.com/office/drawing/2014/main" val="4283619983"/>
                    </a:ext>
                  </a:extLst>
                </a:gridCol>
                <a:gridCol w="1354877">
                  <a:extLst>
                    <a:ext uri="{9D8B030D-6E8A-4147-A177-3AD203B41FA5}">
                      <a16:colId xmlns:a16="http://schemas.microsoft.com/office/drawing/2014/main" val="693369128"/>
                    </a:ext>
                  </a:extLst>
                </a:gridCol>
                <a:gridCol w="1319540">
                  <a:extLst>
                    <a:ext uri="{9D8B030D-6E8A-4147-A177-3AD203B41FA5}">
                      <a16:colId xmlns:a16="http://schemas.microsoft.com/office/drawing/2014/main" val="872515666"/>
                    </a:ext>
                  </a:extLst>
                </a:gridCol>
              </a:tblGrid>
              <a:tr h="581066">
                <a:tc>
                  <a:txBody>
                    <a:bodyPr/>
                    <a:lstStyle/>
                    <a:p>
                      <a:pPr algn="just"/>
                      <a:r>
                        <a:rPr lang="en-US" sz="1000" dirty="0"/>
                        <a:t>Sl. No.</a:t>
                      </a:r>
                      <a:endParaRPr lang="en-IN" sz="1000" dirty="0"/>
                    </a:p>
                  </a:txBody>
                  <a:tcPr/>
                </a:tc>
                <a:tc>
                  <a:txBody>
                    <a:bodyPr/>
                    <a:lstStyle/>
                    <a:p>
                      <a:pPr algn="just"/>
                      <a:r>
                        <a:rPr lang="en-US" sz="1000" dirty="0"/>
                        <a:t>Title of papers and Author</a:t>
                      </a:r>
                      <a:endParaRPr lang="en-IN" sz="1000" dirty="0"/>
                    </a:p>
                  </a:txBody>
                  <a:tcPr/>
                </a:tc>
                <a:tc>
                  <a:txBody>
                    <a:bodyPr/>
                    <a:lstStyle/>
                    <a:p>
                      <a:pPr algn="just"/>
                      <a:r>
                        <a:rPr lang="en-US" sz="1000" dirty="0"/>
                        <a:t>Year of Publication</a:t>
                      </a:r>
                      <a:endParaRPr lang="en-IN" sz="1000" dirty="0"/>
                    </a:p>
                  </a:txBody>
                  <a:tcPr/>
                </a:tc>
                <a:tc>
                  <a:txBody>
                    <a:bodyPr/>
                    <a:lstStyle/>
                    <a:p>
                      <a:pPr algn="just"/>
                      <a:r>
                        <a:rPr lang="en-US" sz="1000" dirty="0"/>
                        <a:t>Journal/</a:t>
                      </a:r>
                    </a:p>
                    <a:p>
                      <a:pPr algn="just"/>
                      <a:r>
                        <a:rPr lang="en-US" sz="1000" dirty="0"/>
                        <a:t>Conference </a:t>
                      </a:r>
                    </a:p>
                    <a:p>
                      <a:pPr algn="just"/>
                      <a:r>
                        <a:rPr lang="en-US" sz="1000" dirty="0"/>
                        <a:t>Name</a:t>
                      </a:r>
                      <a:endParaRPr lang="en-IN" sz="1000" dirty="0"/>
                    </a:p>
                  </a:txBody>
                  <a:tcPr/>
                </a:tc>
                <a:tc>
                  <a:txBody>
                    <a:bodyPr/>
                    <a:lstStyle/>
                    <a:p>
                      <a:pPr algn="just"/>
                      <a:r>
                        <a:rPr lang="en-US" sz="1000" dirty="0"/>
                        <a:t>Methodology Used</a:t>
                      </a:r>
                      <a:endParaRPr lang="en-IN" sz="1000" dirty="0"/>
                    </a:p>
                  </a:txBody>
                  <a:tcPr/>
                </a:tc>
                <a:tc>
                  <a:txBody>
                    <a:bodyPr/>
                    <a:lstStyle/>
                    <a:p>
                      <a:pPr algn="just"/>
                      <a:r>
                        <a:rPr lang="en-US" sz="1000" dirty="0"/>
                        <a:t>Salient</a:t>
                      </a:r>
                    </a:p>
                    <a:p>
                      <a:pPr algn="just"/>
                      <a:r>
                        <a:rPr lang="en-US" sz="1000" dirty="0"/>
                        <a:t>Features</a:t>
                      </a:r>
                      <a:endParaRPr lang="en-IN" sz="1000" dirty="0"/>
                    </a:p>
                  </a:txBody>
                  <a:tcPr/>
                </a:tc>
                <a:tc>
                  <a:txBody>
                    <a:bodyPr/>
                    <a:lstStyle/>
                    <a:p>
                      <a:pPr algn="just"/>
                      <a:r>
                        <a:rPr lang="en-US" sz="1000" dirty="0"/>
                        <a:t>Advantages/</a:t>
                      </a:r>
                    </a:p>
                    <a:p>
                      <a:pPr algn="just"/>
                      <a:r>
                        <a:rPr lang="en-US" sz="1000" dirty="0"/>
                        <a:t>Disadvantages</a:t>
                      </a:r>
                      <a:endParaRPr lang="en-IN" sz="1000" dirty="0"/>
                    </a:p>
                  </a:txBody>
                  <a:tcPr/>
                </a:tc>
                <a:extLst>
                  <a:ext uri="{0D108BD9-81ED-4DB2-BD59-A6C34878D82A}">
                    <a16:rowId xmlns:a16="http://schemas.microsoft.com/office/drawing/2014/main" val="1212571284"/>
                  </a:ext>
                </a:extLst>
              </a:tr>
              <a:tr h="3026494">
                <a:tc>
                  <a:txBody>
                    <a:bodyPr/>
                    <a:lstStyle/>
                    <a:p>
                      <a:pPr algn="just"/>
                      <a:r>
                        <a:rPr lang="en-US" sz="1800" dirty="0"/>
                        <a:t>1</a:t>
                      </a:r>
                      <a:endParaRPr lang="en-IN" sz="1800" dirty="0"/>
                    </a:p>
                  </a:txBody>
                  <a:tcPr/>
                </a:tc>
                <a:tc>
                  <a:txBody>
                    <a:bodyPr/>
                    <a:lstStyle/>
                    <a:p>
                      <a:pPr algn="just"/>
                      <a:r>
                        <a:rPr lang="en-IN" sz="1000" dirty="0"/>
                        <a:t>"Machine Learning in Network Anomaly Detection: A Survey" ,</a:t>
                      </a:r>
                      <a:r>
                        <a:rPr lang="en-IN" sz="1000" dirty="0" err="1"/>
                        <a:t>byS</a:t>
                      </a:r>
                      <a:r>
                        <a:rPr lang="en-IN" sz="1000" dirty="0"/>
                        <a:t>. Garg, K. Kaur, G. </a:t>
                      </a:r>
                      <a:r>
                        <a:rPr lang="en-IN" sz="1000" dirty="0" err="1"/>
                        <a:t>Kaddoum</a:t>
                      </a:r>
                      <a:r>
                        <a:rPr lang="en-IN" sz="1000" dirty="0"/>
                        <a:t>, A. </a:t>
                      </a:r>
                      <a:r>
                        <a:rPr lang="en-IN" sz="1000" dirty="0" err="1"/>
                        <a:t>Bradai</a:t>
                      </a:r>
                      <a:r>
                        <a:rPr lang="en-IN" sz="1000" dirty="0"/>
                        <a:t>, M. </a:t>
                      </a:r>
                      <a:r>
                        <a:rPr lang="en-IN" sz="1000" dirty="0" err="1"/>
                        <a:t>Aloqaily</a:t>
                      </a:r>
                      <a:r>
                        <a:rPr lang="en-IN" sz="1000" dirty="0"/>
                        <a:t>, and M. </a:t>
                      </a:r>
                      <a:r>
                        <a:rPr lang="en-IN" sz="1000" dirty="0" err="1"/>
                        <a:t>Guizani</a:t>
                      </a:r>
                      <a:endParaRPr lang="en-IN" sz="1000" dirty="0"/>
                    </a:p>
                  </a:txBody>
                  <a:tcPr/>
                </a:tc>
                <a:tc>
                  <a:txBody>
                    <a:bodyPr/>
                    <a:lstStyle/>
                    <a:p>
                      <a:pPr algn="just"/>
                      <a:r>
                        <a:rPr lang="en-US" sz="1000" dirty="0"/>
                        <a:t>2021</a:t>
                      </a:r>
                      <a:endParaRPr lang="en-IN" sz="1000" dirty="0"/>
                    </a:p>
                  </a:txBody>
                  <a:tcPr/>
                </a:tc>
                <a:tc>
                  <a:txBody>
                    <a:bodyPr/>
                    <a:lstStyle/>
                    <a:p>
                      <a:pPr algn="just"/>
                      <a:r>
                        <a:rPr lang="en-IN" sz="1000" dirty="0"/>
                        <a:t>IEEE Communications Surveys &amp; Tutorials, vol. 23</a:t>
                      </a:r>
                    </a:p>
                  </a:txBody>
                  <a:tcPr/>
                </a:tc>
                <a:tc>
                  <a:txBody>
                    <a:bodyPr/>
                    <a:lstStyle/>
                    <a:p>
                      <a:pPr marL="171450" indent="-171450" algn="just">
                        <a:buFont typeface="Arial" panose="020B0604020202020204" pitchFamily="34" charset="0"/>
                        <a:buChar char="•"/>
                      </a:pPr>
                      <a:r>
                        <a:rPr lang="en-IN" sz="1000" b="1" dirty="0"/>
                        <a:t>Anomaly Classification</a:t>
                      </a:r>
                      <a:r>
                        <a:rPr lang="en-IN" sz="1000" dirty="0"/>
                        <a:t>: Known vs. unknown anomalies.</a:t>
                      </a:r>
                    </a:p>
                    <a:p>
                      <a:pPr marL="171450" indent="-171450" algn="just">
                        <a:buFont typeface="Arial" panose="020B0604020202020204" pitchFamily="34" charset="0"/>
                        <a:buChar char="•"/>
                      </a:pPr>
                      <a:r>
                        <a:rPr lang="en-IN" sz="1000" b="1" dirty="0"/>
                        <a:t>ML Techniques</a:t>
                      </a:r>
                      <a:r>
                        <a:rPr lang="en-IN" sz="1000" dirty="0"/>
                        <a:t>: Supervised, unsupervised, deep learning (CNN, RNN).</a:t>
                      </a:r>
                    </a:p>
                    <a:p>
                      <a:pPr marL="171450" indent="-171450" algn="just">
                        <a:buFont typeface="Arial" panose="020B0604020202020204" pitchFamily="34" charset="0"/>
                        <a:buChar char="•"/>
                      </a:pPr>
                      <a:r>
                        <a:rPr lang="en-IN" sz="1000" b="1" dirty="0"/>
                        <a:t>Feature Extraction</a:t>
                      </a:r>
                      <a:r>
                        <a:rPr lang="en-IN" sz="1000" dirty="0"/>
                        <a:t>: Focus on relevant network features.</a:t>
                      </a:r>
                    </a:p>
                    <a:p>
                      <a:pPr marL="171450" indent="-171450" algn="just">
                        <a:buFont typeface="Arial" panose="020B0604020202020204" pitchFamily="34" charset="0"/>
                        <a:buChar char="•"/>
                      </a:pPr>
                      <a:r>
                        <a:rPr lang="en-IN" sz="1000" b="1" dirty="0"/>
                        <a:t>Evaluation</a:t>
                      </a:r>
                      <a:r>
                        <a:rPr lang="en-IN" sz="1000" dirty="0"/>
                        <a:t>: Accuracy, precision, F1-score.</a:t>
                      </a:r>
                    </a:p>
                    <a:p>
                      <a:pPr algn="just"/>
                      <a:endParaRPr lang="en-IN" sz="1000" dirty="0"/>
                    </a:p>
                  </a:txBody>
                  <a:tcPr/>
                </a:tc>
                <a:tc>
                  <a:txBody>
                    <a:bodyPr/>
                    <a:lstStyle/>
                    <a:p>
                      <a:pPr marL="285750" indent="-285750" algn="just">
                        <a:buFont typeface="Arial" panose="020B0604020202020204" pitchFamily="34" charset="0"/>
                        <a:buChar char="•"/>
                      </a:pPr>
                      <a:r>
                        <a:rPr lang="en-US" sz="1000" dirty="0"/>
                        <a:t>Covers traditional and modern ML methods.</a:t>
                      </a:r>
                    </a:p>
                    <a:p>
                      <a:pPr marL="285750" indent="-285750" algn="just">
                        <a:buFont typeface="Arial" panose="020B0604020202020204" pitchFamily="34" charset="0"/>
                        <a:buChar char="•"/>
                      </a:pPr>
                      <a:r>
                        <a:rPr lang="en-US" sz="1000" dirty="0"/>
                        <a:t>Emphasizes feature selection and data preprocessing.</a:t>
                      </a:r>
                    </a:p>
                    <a:p>
                      <a:pPr algn="just"/>
                      <a:endParaRPr lang="en-IN" sz="1000" dirty="0"/>
                    </a:p>
                  </a:txBody>
                  <a:tcPr/>
                </a:tc>
                <a:tc>
                  <a:txBody>
                    <a:bodyPr/>
                    <a:lstStyle/>
                    <a:p>
                      <a:pPr algn="just"/>
                      <a:r>
                        <a:rPr lang="en-US" sz="1000" dirty="0"/>
                        <a:t>Advantages:</a:t>
                      </a:r>
                    </a:p>
                    <a:p>
                      <a:pPr marL="171450" indent="-171450" algn="just">
                        <a:buFont typeface="Arial" panose="020B0604020202020204" pitchFamily="34" charset="0"/>
                        <a:buChar char="•"/>
                      </a:pPr>
                      <a:r>
                        <a:rPr lang="en-US" sz="1000" dirty="0"/>
                        <a:t>Scalable, adaptive to new anomalies</a:t>
                      </a:r>
                    </a:p>
                    <a:p>
                      <a:pPr marL="0" indent="0" algn="just">
                        <a:buFont typeface="Arial" panose="020B0604020202020204" pitchFamily="34" charset="0"/>
                        <a:buNone/>
                      </a:pPr>
                      <a:r>
                        <a:rPr lang="en-US" sz="1000" dirty="0"/>
                        <a:t>Disadvantages:</a:t>
                      </a:r>
                    </a:p>
                    <a:p>
                      <a:pPr marL="171450" indent="-171450" algn="just">
                        <a:buFont typeface="Arial" panose="020B0604020202020204" pitchFamily="34" charset="0"/>
                        <a:buChar char="•"/>
                      </a:pPr>
                      <a:r>
                        <a:rPr lang="en-US" sz="1000" dirty="0"/>
                        <a:t>Needs high-quality data.</a:t>
                      </a:r>
                    </a:p>
                    <a:p>
                      <a:pPr marL="171450" indent="-171450" algn="just">
                        <a:buFont typeface="Arial" panose="020B0604020202020204" pitchFamily="34" charset="0"/>
                        <a:buChar char="•"/>
                      </a:pPr>
                      <a:r>
                        <a:rPr lang="en-US" sz="1000" dirty="0"/>
                        <a:t>Deep learning is resource-intensive</a:t>
                      </a:r>
                    </a:p>
                    <a:p>
                      <a:pPr marL="0" indent="0" algn="just">
                        <a:buFont typeface="Arial" panose="020B0604020202020204" pitchFamily="34" charset="0"/>
                        <a:buNone/>
                      </a:pPr>
                      <a:endParaRPr lang="en-IN" sz="1000" dirty="0"/>
                    </a:p>
                  </a:txBody>
                  <a:tcPr/>
                </a:tc>
                <a:extLst>
                  <a:ext uri="{0D108BD9-81ED-4DB2-BD59-A6C34878D82A}">
                    <a16:rowId xmlns:a16="http://schemas.microsoft.com/office/drawing/2014/main" val="2949759398"/>
                  </a:ext>
                </a:extLst>
              </a:tr>
              <a:tr h="1557322">
                <a:tc>
                  <a:txBody>
                    <a:bodyPr/>
                    <a:lstStyle/>
                    <a:p>
                      <a:pPr algn="just"/>
                      <a:r>
                        <a:rPr lang="en-US" sz="1800" dirty="0"/>
                        <a:t>2</a:t>
                      </a:r>
                      <a:endParaRPr lang="en-IN" sz="1800" dirty="0"/>
                    </a:p>
                  </a:txBody>
                  <a:tcPr/>
                </a:tc>
                <a:tc>
                  <a:txBody>
                    <a:bodyPr/>
                    <a:lstStyle/>
                    <a:p>
                      <a:pPr algn="just"/>
                      <a:r>
                        <a:rPr lang="en-IN" sz="1000" dirty="0"/>
                        <a:t>"Cloud Network Anomaly Detection Using Machine and Deep Learning Techniques," by M. M. Rathore, S. Park, and J. H. Park</a:t>
                      </a:r>
                    </a:p>
                  </a:txBody>
                  <a:tcPr/>
                </a:tc>
                <a:tc>
                  <a:txBody>
                    <a:bodyPr/>
                    <a:lstStyle/>
                    <a:p>
                      <a:pPr algn="just"/>
                      <a:r>
                        <a:rPr lang="en-US" sz="1000" dirty="0"/>
                        <a:t>2023</a:t>
                      </a:r>
                      <a:endParaRPr lang="en-IN" sz="1000" dirty="0"/>
                    </a:p>
                  </a:txBody>
                  <a:tcPr/>
                </a:tc>
                <a:tc>
                  <a:txBody>
                    <a:bodyPr/>
                    <a:lstStyle/>
                    <a:p>
                      <a:pPr algn="just"/>
                      <a:r>
                        <a:rPr lang="en-IN" sz="1000" dirty="0"/>
                        <a:t>IEEE Access, vol. 11</a:t>
                      </a:r>
                    </a:p>
                  </a:txBody>
                  <a:tcPr/>
                </a:tc>
                <a:tc>
                  <a:txBody>
                    <a:bodyPr/>
                    <a:lstStyle/>
                    <a:p>
                      <a:pPr marL="171450" indent="-171450" algn="just">
                        <a:buFont typeface="Arial" panose="020B0604020202020204" pitchFamily="34" charset="0"/>
                        <a:buChar char="•"/>
                      </a:pPr>
                      <a:r>
                        <a:rPr lang="en-US" sz="1000" b="1" dirty="0"/>
                        <a:t>ML &amp; Deep Learning</a:t>
                      </a:r>
                      <a:r>
                        <a:rPr lang="en-US" sz="1000" dirty="0"/>
                        <a:t> (SVM, CNN, RNN).</a:t>
                      </a:r>
                    </a:p>
                    <a:p>
                      <a:pPr marL="171450" indent="-171450" algn="just">
                        <a:buFont typeface="Arial" panose="020B0604020202020204" pitchFamily="34" charset="0"/>
                        <a:buChar char="•"/>
                      </a:pPr>
                      <a:r>
                        <a:rPr lang="en-US" sz="1000" dirty="0"/>
                        <a:t>Focus on </a:t>
                      </a:r>
                      <a:r>
                        <a:rPr lang="en-US" sz="1000" b="1" dirty="0"/>
                        <a:t>cloud metrics</a:t>
                      </a:r>
                      <a:r>
                        <a:rPr lang="en-US" sz="1000" dirty="0"/>
                        <a:t> and </a:t>
                      </a:r>
                      <a:r>
                        <a:rPr lang="en-US" sz="1000" b="1" dirty="0"/>
                        <a:t>feature selection</a:t>
                      </a:r>
                      <a:r>
                        <a:rPr lang="en-US" sz="1000" dirty="0"/>
                        <a:t>.</a:t>
                      </a:r>
                    </a:p>
                    <a:p>
                      <a:pPr algn="just"/>
                      <a:endParaRPr lang="en-IN" sz="1000" dirty="0"/>
                    </a:p>
                  </a:txBody>
                  <a:tcPr/>
                </a:tc>
                <a:tc>
                  <a:txBody>
                    <a:bodyPr/>
                    <a:lstStyle/>
                    <a:p>
                      <a:pPr algn="just"/>
                      <a:r>
                        <a:rPr lang="en-US" sz="1000" dirty="0"/>
                        <a:t>Combines </a:t>
                      </a:r>
                      <a:r>
                        <a:rPr lang="en-US" sz="1000" b="1" dirty="0"/>
                        <a:t>ML &amp; deep learning</a:t>
                      </a:r>
                      <a:r>
                        <a:rPr lang="en-US" sz="1000" dirty="0"/>
                        <a:t> for cloud networks.</a:t>
                      </a:r>
                      <a:endParaRPr lang="en-IN" sz="1000" dirty="0"/>
                    </a:p>
                  </a:txBody>
                  <a:tcPr/>
                </a:tc>
                <a:tc>
                  <a:txBody>
                    <a:bodyPr/>
                    <a:lstStyle/>
                    <a:p>
                      <a:pPr algn="just"/>
                      <a:r>
                        <a:rPr lang="en-US" sz="1000" dirty="0"/>
                        <a:t>Advantages:</a:t>
                      </a:r>
                    </a:p>
                    <a:p>
                      <a:pPr marL="171450" indent="-171450" algn="just">
                        <a:buFont typeface="Arial" panose="020B0604020202020204" pitchFamily="34" charset="0"/>
                        <a:buChar char="•"/>
                      </a:pPr>
                      <a:r>
                        <a:rPr lang="en-IN" sz="1000" b="1" dirty="0"/>
                        <a:t>Accurate</a:t>
                      </a:r>
                      <a:r>
                        <a:rPr lang="en-IN" sz="1000" dirty="0"/>
                        <a:t> and </a:t>
                      </a:r>
                      <a:r>
                        <a:rPr lang="en-IN" sz="1000" b="1" dirty="0"/>
                        <a:t>scalable</a:t>
                      </a:r>
                    </a:p>
                    <a:p>
                      <a:pPr marL="0" indent="0" algn="just">
                        <a:buFont typeface="Arial" panose="020B0604020202020204" pitchFamily="34" charset="0"/>
                        <a:buNone/>
                      </a:pPr>
                      <a:r>
                        <a:rPr lang="en-IN" sz="1000" b="0" dirty="0"/>
                        <a:t>Disadvantages:</a:t>
                      </a:r>
                    </a:p>
                    <a:p>
                      <a:pPr marL="171450" indent="-171450" algn="just">
                        <a:buFont typeface="Arial" panose="020B0604020202020204" pitchFamily="34" charset="0"/>
                        <a:buChar char="•"/>
                      </a:pPr>
                      <a:r>
                        <a:rPr lang="en-US" sz="1000" dirty="0"/>
                        <a:t>Needs </a:t>
                      </a:r>
                      <a:r>
                        <a:rPr lang="en-US" sz="1000" b="1" dirty="0"/>
                        <a:t>large datasets</a:t>
                      </a:r>
                      <a:r>
                        <a:rPr lang="en-US" sz="1000" dirty="0"/>
                        <a:t>.</a:t>
                      </a:r>
                    </a:p>
                    <a:p>
                      <a:pPr marL="171450" indent="-171450" algn="just">
                        <a:buFont typeface="Arial" panose="020B0604020202020204" pitchFamily="34" charset="0"/>
                        <a:buChar char="•"/>
                      </a:pPr>
                      <a:r>
                        <a:rPr lang="en-US" sz="1000" b="1" dirty="0"/>
                        <a:t>High computational cost</a:t>
                      </a:r>
                      <a:endParaRPr lang="en-US" sz="1000" dirty="0"/>
                    </a:p>
                    <a:p>
                      <a:pPr marL="0" indent="0" algn="just">
                        <a:buFont typeface="Arial" panose="020B0604020202020204" pitchFamily="34" charset="0"/>
                        <a:buNone/>
                      </a:pPr>
                      <a:endParaRPr lang="en-IN" sz="1000" b="0" dirty="0"/>
                    </a:p>
                  </a:txBody>
                  <a:tcPr/>
                </a:tc>
                <a:extLst>
                  <a:ext uri="{0D108BD9-81ED-4DB2-BD59-A6C34878D82A}">
                    <a16:rowId xmlns:a16="http://schemas.microsoft.com/office/drawing/2014/main" val="67541278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E50E8D4-84FF-B7F7-EF05-4C772DEB04AF}"/>
            </a:ext>
          </a:extLst>
        </p:cNvPr>
        <p:cNvGrpSpPr/>
        <p:nvPr/>
      </p:nvGrpSpPr>
      <p:grpSpPr>
        <a:xfrm>
          <a:off x="0" y="0"/>
          <a:ext cx="0" cy="0"/>
          <a:chOff x="0" y="0"/>
          <a:chExt cx="0" cy="0"/>
        </a:xfrm>
      </p:grpSpPr>
      <p:grpSp>
        <p:nvGrpSpPr>
          <p:cNvPr id="156" name="Google Shape;156;p18">
            <a:extLst>
              <a:ext uri="{FF2B5EF4-FFF2-40B4-BE49-F238E27FC236}">
                <a16:creationId xmlns:a16="http://schemas.microsoft.com/office/drawing/2014/main" id="{4D88AA02-570E-E9AD-3242-DA25E005D76E}"/>
              </a:ext>
            </a:extLst>
          </p:cNvPr>
          <p:cNvGrpSpPr/>
          <p:nvPr/>
        </p:nvGrpSpPr>
        <p:grpSpPr>
          <a:xfrm>
            <a:off x="15033" y="223935"/>
            <a:ext cx="12176967" cy="6630358"/>
            <a:chOff x="0" y="118871"/>
            <a:chExt cx="9144000" cy="4978908"/>
          </a:xfrm>
        </p:grpSpPr>
        <p:pic>
          <p:nvPicPr>
            <p:cNvPr id="157" name="Google Shape;157;p18">
              <a:extLst>
                <a:ext uri="{FF2B5EF4-FFF2-40B4-BE49-F238E27FC236}">
                  <a16:creationId xmlns:a16="http://schemas.microsoft.com/office/drawing/2014/main" id="{BAB5EB1C-B332-4414-C971-E5CBA1D6082C}"/>
                </a:ext>
              </a:extLst>
            </p:cNvPr>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58" name="Google Shape;158;p18">
              <a:extLst>
                <a:ext uri="{FF2B5EF4-FFF2-40B4-BE49-F238E27FC236}">
                  <a16:creationId xmlns:a16="http://schemas.microsoft.com/office/drawing/2014/main" id="{2EA8F09A-79C5-4A72-B05D-42BDE39B2E6A}"/>
                </a:ext>
              </a:extLst>
            </p:cNvPr>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59" name="Google Shape;159;p18">
              <a:extLst>
                <a:ext uri="{FF2B5EF4-FFF2-40B4-BE49-F238E27FC236}">
                  <a16:creationId xmlns:a16="http://schemas.microsoft.com/office/drawing/2014/main" id="{D5F5F768-5CBD-6A36-8739-61133985C0C3}"/>
                </a:ext>
              </a:extLst>
            </p:cNvPr>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60" name="Google Shape;160;p18">
              <a:extLst>
                <a:ext uri="{FF2B5EF4-FFF2-40B4-BE49-F238E27FC236}">
                  <a16:creationId xmlns:a16="http://schemas.microsoft.com/office/drawing/2014/main" id="{8CCB24F9-868E-9E79-7359-7B7E50AC0848}"/>
                </a:ext>
              </a:extLst>
            </p:cNvPr>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61" name="Google Shape;161;p18" descr="https://lh7-us.googleusercontent.com/7ridFL7yczpWVCpPt4tsvP1mrI2juajd_SUhdJlST8S-oKcdijIgkSnaMC4UjbZ0h2AVaBmX4gX0v7iO6Nn55bkNpv7i2fhIqtqG_0iRA5BPZP9SPx1afMmJsWkxvFSxhhAfeP_no4vgIwNpH2alwQ">
            <a:extLst>
              <a:ext uri="{FF2B5EF4-FFF2-40B4-BE49-F238E27FC236}">
                <a16:creationId xmlns:a16="http://schemas.microsoft.com/office/drawing/2014/main" id="{BA0899FB-D4CD-AB88-8248-32DE6223F407}"/>
              </a:ext>
            </a:extLst>
          </p:cNvPr>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62" name="Google Shape;162;p18">
            <a:extLst>
              <a:ext uri="{FF2B5EF4-FFF2-40B4-BE49-F238E27FC236}">
                <a16:creationId xmlns:a16="http://schemas.microsoft.com/office/drawing/2014/main" id="{CCF2FAE4-68E6-6090-F499-C6C4558F8B97}"/>
              </a:ext>
            </a:extLst>
          </p:cNvPr>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63" name="Google Shape;163;p18">
            <a:extLst>
              <a:ext uri="{FF2B5EF4-FFF2-40B4-BE49-F238E27FC236}">
                <a16:creationId xmlns:a16="http://schemas.microsoft.com/office/drawing/2014/main" id="{DFC213A5-C01D-8C5F-0E00-1DC3B28F55E7}"/>
              </a:ext>
            </a:extLst>
          </p:cNvPr>
          <p:cNvSpPr txBox="1"/>
          <p:nvPr/>
        </p:nvSpPr>
        <p:spPr>
          <a:xfrm>
            <a:off x="685799" y="212725"/>
            <a:ext cx="9476509" cy="446917"/>
          </a:xfrm>
          <a:prstGeom prst="rect">
            <a:avLst/>
          </a:prstGeom>
          <a:noFill/>
          <a:ln>
            <a:noFill/>
          </a:ln>
        </p:spPr>
        <p:txBody>
          <a:bodyPr spcFirstLastPara="1" wrap="square" lIns="0" tIns="15875" rIns="0" bIns="0" anchor="t" anchorCtr="0">
            <a:spAutoFit/>
          </a:bodyPr>
          <a:lstStyle/>
          <a:p>
            <a:pPr marL="12700" marR="0" lvl="0" indent="0" algn="ctr" rtl="0">
              <a:spcBef>
                <a:spcPts val="0"/>
              </a:spcBef>
              <a:spcAft>
                <a:spcPts val="0"/>
              </a:spcAft>
              <a:buNone/>
            </a:pPr>
            <a:r>
              <a:rPr lang="en-US" sz="2800" b="1" i="0">
                <a:solidFill>
                  <a:srgbClr val="365F92"/>
                </a:solidFill>
                <a:latin typeface="Cambria"/>
                <a:ea typeface="Cambria"/>
                <a:cs typeface="Cambria"/>
                <a:sym typeface="Cambria"/>
              </a:rPr>
              <a:t>LITERATURE SURVEY PAPERS/REFERENCES PAPERS</a:t>
            </a:r>
            <a:endParaRPr sz="3150" b="1" i="0" u="none" strike="noStrike" cap="none">
              <a:solidFill>
                <a:srgbClr val="365F92"/>
              </a:solidFill>
              <a:latin typeface="Cambria"/>
              <a:ea typeface="Cambria"/>
              <a:cs typeface="Cambria"/>
              <a:sym typeface="Cambria"/>
            </a:endParaRPr>
          </a:p>
        </p:txBody>
      </p:sp>
      <p:sp>
        <p:nvSpPr>
          <p:cNvPr id="164" name="Google Shape;164;p18">
            <a:extLst>
              <a:ext uri="{FF2B5EF4-FFF2-40B4-BE49-F238E27FC236}">
                <a16:creationId xmlns:a16="http://schemas.microsoft.com/office/drawing/2014/main" id="{1872B85D-1316-666A-4670-A6C62786B054}"/>
              </a:ext>
            </a:extLst>
          </p:cNvPr>
          <p:cNvSpPr/>
          <p:nvPr/>
        </p:nvSpPr>
        <p:spPr>
          <a:xfrm>
            <a:off x="746873" y="1105748"/>
            <a:ext cx="11244235"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EDEE119B-C3E0-FF67-BD02-CAEB3302314F}"/>
              </a:ext>
            </a:extLst>
          </p:cNvPr>
          <p:cNvGraphicFramePr>
            <a:graphicFrameLocks noGrp="1"/>
          </p:cNvGraphicFramePr>
          <p:nvPr>
            <p:extLst>
              <p:ext uri="{D42A27DB-BD31-4B8C-83A1-F6EECF244321}">
                <p14:modId xmlns:p14="http://schemas.microsoft.com/office/powerpoint/2010/main" val="3144134623"/>
              </p:ext>
            </p:extLst>
          </p:nvPr>
        </p:nvGraphicFramePr>
        <p:xfrm>
          <a:off x="1127448" y="1105748"/>
          <a:ext cx="9361037" cy="5329425"/>
        </p:xfrm>
        <a:graphic>
          <a:graphicData uri="http://schemas.openxmlformats.org/drawingml/2006/table">
            <a:tbl>
              <a:tblPr firstRow="1" bandRow="1">
                <a:tableStyleId>{5940675A-B579-460E-94D1-54222C63F5DA}</a:tableStyleId>
              </a:tblPr>
              <a:tblGrid>
                <a:gridCol w="1337291">
                  <a:extLst>
                    <a:ext uri="{9D8B030D-6E8A-4147-A177-3AD203B41FA5}">
                      <a16:colId xmlns:a16="http://schemas.microsoft.com/office/drawing/2014/main" val="4169229441"/>
                    </a:ext>
                  </a:extLst>
                </a:gridCol>
                <a:gridCol w="1337291">
                  <a:extLst>
                    <a:ext uri="{9D8B030D-6E8A-4147-A177-3AD203B41FA5}">
                      <a16:colId xmlns:a16="http://schemas.microsoft.com/office/drawing/2014/main" val="1412781884"/>
                    </a:ext>
                  </a:extLst>
                </a:gridCol>
                <a:gridCol w="1337291">
                  <a:extLst>
                    <a:ext uri="{9D8B030D-6E8A-4147-A177-3AD203B41FA5}">
                      <a16:colId xmlns:a16="http://schemas.microsoft.com/office/drawing/2014/main" val="4267047768"/>
                    </a:ext>
                  </a:extLst>
                </a:gridCol>
                <a:gridCol w="1337291">
                  <a:extLst>
                    <a:ext uri="{9D8B030D-6E8A-4147-A177-3AD203B41FA5}">
                      <a16:colId xmlns:a16="http://schemas.microsoft.com/office/drawing/2014/main" val="1383373655"/>
                    </a:ext>
                  </a:extLst>
                </a:gridCol>
                <a:gridCol w="1337291">
                  <a:extLst>
                    <a:ext uri="{9D8B030D-6E8A-4147-A177-3AD203B41FA5}">
                      <a16:colId xmlns:a16="http://schemas.microsoft.com/office/drawing/2014/main" val="3923218397"/>
                    </a:ext>
                  </a:extLst>
                </a:gridCol>
                <a:gridCol w="1337291">
                  <a:extLst>
                    <a:ext uri="{9D8B030D-6E8A-4147-A177-3AD203B41FA5}">
                      <a16:colId xmlns:a16="http://schemas.microsoft.com/office/drawing/2014/main" val="241899373"/>
                    </a:ext>
                  </a:extLst>
                </a:gridCol>
                <a:gridCol w="1337291">
                  <a:extLst>
                    <a:ext uri="{9D8B030D-6E8A-4147-A177-3AD203B41FA5}">
                      <a16:colId xmlns:a16="http://schemas.microsoft.com/office/drawing/2014/main" val="598603939"/>
                    </a:ext>
                  </a:extLst>
                </a:gridCol>
              </a:tblGrid>
              <a:tr h="2848485">
                <a:tc>
                  <a:txBody>
                    <a:bodyPr/>
                    <a:lstStyle/>
                    <a:p>
                      <a:pPr algn="just"/>
                      <a:r>
                        <a:rPr lang="en-US" dirty="0"/>
                        <a:t>3</a:t>
                      </a:r>
                      <a:endParaRPr lang="en-IN" dirty="0"/>
                    </a:p>
                  </a:txBody>
                  <a:tcPr/>
                </a:tc>
                <a:tc>
                  <a:txBody>
                    <a:bodyPr/>
                    <a:lstStyle/>
                    <a:p>
                      <a:pPr algn="just"/>
                      <a:r>
                        <a:rPr lang="en-IN" sz="1200" dirty="0"/>
                        <a:t>"Network Anomaly Detection Utilizing Machine Learning Methods," by A. </a:t>
                      </a:r>
                      <a:r>
                        <a:rPr lang="en-IN" sz="1200" dirty="0" err="1"/>
                        <a:t>Lakhina</a:t>
                      </a:r>
                      <a:r>
                        <a:rPr lang="en-IN" sz="1200" dirty="0"/>
                        <a:t>, M. </a:t>
                      </a:r>
                      <a:r>
                        <a:rPr lang="en-IN" sz="1200" dirty="0" err="1"/>
                        <a:t>Crovella</a:t>
                      </a:r>
                      <a:r>
                        <a:rPr lang="en-IN" sz="1200" dirty="0"/>
                        <a:t>, and C. </a:t>
                      </a:r>
                      <a:r>
                        <a:rPr lang="en-IN" sz="1200" dirty="0" err="1"/>
                        <a:t>Diot</a:t>
                      </a:r>
                      <a:endParaRPr lang="en-IN" sz="1200" dirty="0"/>
                    </a:p>
                  </a:txBody>
                  <a:tcPr/>
                </a:tc>
                <a:tc>
                  <a:txBody>
                    <a:bodyPr/>
                    <a:lstStyle/>
                    <a:p>
                      <a:pPr algn="just"/>
                      <a:r>
                        <a:rPr lang="en-US" sz="1200" dirty="0"/>
                        <a:t>2019</a:t>
                      </a:r>
                      <a:endParaRPr lang="en-IN" sz="1200" dirty="0"/>
                    </a:p>
                  </a:txBody>
                  <a:tcPr/>
                </a:tc>
                <a:tc>
                  <a:txBody>
                    <a:bodyPr/>
                    <a:lstStyle/>
                    <a:p>
                      <a:pPr algn="just"/>
                      <a:r>
                        <a:rPr lang="en-IN" sz="1200" dirty="0"/>
                        <a:t>IEEE International Conference on Computer Communications </a:t>
                      </a:r>
                    </a:p>
                  </a:txBody>
                  <a:tcPr/>
                </a:tc>
                <a:tc>
                  <a:txBody>
                    <a:bodyPr/>
                    <a:lstStyle/>
                    <a:p>
                      <a:pPr marL="171450" indent="-171450" algn="just">
                        <a:buFont typeface="Arial" panose="020B0604020202020204" pitchFamily="34" charset="0"/>
                        <a:buChar char="•"/>
                      </a:pPr>
                      <a:r>
                        <a:rPr lang="en-US" sz="1200" b="1" dirty="0"/>
                        <a:t>Clustering &amp; Classification</a:t>
                      </a:r>
                      <a:r>
                        <a:rPr lang="en-US" sz="1200" dirty="0"/>
                        <a:t> (e.g., SVM, Decision Trees).</a:t>
                      </a:r>
                    </a:p>
                    <a:p>
                      <a:pPr marL="171450" indent="-171450" algn="just">
                        <a:buFont typeface="Arial" panose="020B0604020202020204" pitchFamily="34" charset="0"/>
                        <a:buChar char="•"/>
                      </a:pPr>
                      <a:r>
                        <a:rPr lang="en-US" sz="1200" dirty="0"/>
                        <a:t>Focus on </a:t>
                      </a:r>
                      <a:r>
                        <a:rPr lang="en-US" sz="1200" b="1" dirty="0"/>
                        <a:t>traffic analysis</a:t>
                      </a:r>
                      <a:r>
                        <a:rPr lang="en-US" sz="1200" dirty="0"/>
                        <a:t> and </a:t>
                      </a:r>
                      <a:r>
                        <a:rPr lang="en-US" sz="1200" b="1" dirty="0"/>
                        <a:t>feature extraction</a:t>
                      </a:r>
                      <a:endParaRPr lang="en-US" sz="1200" dirty="0"/>
                    </a:p>
                    <a:p>
                      <a:pPr algn="just"/>
                      <a:endParaRPr lang="en-IN" sz="1200" dirty="0"/>
                    </a:p>
                  </a:txBody>
                  <a:tcPr/>
                </a:tc>
                <a:tc>
                  <a:txBody>
                    <a:bodyPr/>
                    <a:lstStyle/>
                    <a:p>
                      <a:pPr algn="just"/>
                      <a:r>
                        <a:rPr lang="en-US" sz="1200" dirty="0"/>
                        <a:t>Combines </a:t>
                      </a:r>
                      <a:r>
                        <a:rPr lang="en-US" sz="1200" b="1" dirty="0"/>
                        <a:t>statistical methods</a:t>
                      </a:r>
                      <a:r>
                        <a:rPr lang="en-US" sz="1200" dirty="0"/>
                        <a:t> and </a:t>
                      </a:r>
                      <a:r>
                        <a:rPr lang="en-US" sz="1200" b="1" dirty="0"/>
                        <a:t>ML</a:t>
                      </a:r>
                      <a:r>
                        <a:rPr lang="en-US" sz="1200" dirty="0"/>
                        <a:t> for anomaly detection</a:t>
                      </a:r>
                      <a:endParaRPr lang="en-IN" sz="1200" dirty="0"/>
                    </a:p>
                  </a:txBody>
                  <a:tcPr/>
                </a:tc>
                <a:tc>
                  <a:txBody>
                    <a:bodyPr/>
                    <a:lstStyle/>
                    <a:p>
                      <a:pPr algn="just"/>
                      <a:r>
                        <a:rPr lang="en-US" sz="1200" dirty="0"/>
                        <a:t>Advantages:</a:t>
                      </a:r>
                    </a:p>
                    <a:p>
                      <a:pPr marL="171450" indent="-171450" algn="just">
                        <a:buFont typeface="Arial" panose="020B0604020202020204" pitchFamily="34" charset="0"/>
                        <a:buChar char="•"/>
                      </a:pPr>
                      <a:r>
                        <a:rPr lang="en-US" sz="1200" b="1" dirty="0"/>
                        <a:t>Real-time detection</a:t>
                      </a:r>
                      <a:r>
                        <a:rPr lang="en-US" sz="1200" dirty="0"/>
                        <a:t>.</a:t>
                      </a:r>
                    </a:p>
                    <a:p>
                      <a:pPr marL="171450" indent="-171450" algn="just">
                        <a:buFont typeface="Arial" panose="020B0604020202020204" pitchFamily="34" charset="0"/>
                        <a:buChar char="•"/>
                      </a:pPr>
                      <a:r>
                        <a:rPr lang="en-US" sz="1200" b="1" dirty="0"/>
                        <a:t>Effective</a:t>
                      </a:r>
                      <a:r>
                        <a:rPr lang="en-US" sz="1200" dirty="0"/>
                        <a:t> for various anomalies</a:t>
                      </a:r>
                    </a:p>
                    <a:p>
                      <a:pPr algn="just"/>
                      <a:r>
                        <a:rPr lang="en-IN" sz="1200" dirty="0"/>
                        <a:t>Disadvantages:</a:t>
                      </a:r>
                    </a:p>
                    <a:p>
                      <a:pPr marL="171450" indent="-171450" algn="just">
                        <a:buFont typeface="Arial" panose="020B0604020202020204" pitchFamily="34" charset="0"/>
                        <a:buChar char="•"/>
                      </a:pPr>
                      <a:r>
                        <a:rPr lang="en-US" sz="1200" dirty="0"/>
                        <a:t>Sensitive to </a:t>
                      </a:r>
                      <a:r>
                        <a:rPr lang="en-US" sz="1200" b="1" dirty="0"/>
                        <a:t>feature selection</a:t>
                      </a:r>
                      <a:r>
                        <a:rPr lang="en-US" sz="1200" dirty="0"/>
                        <a:t>.</a:t>
                      </a:r>
                    </a:p>
                    <a:p>
                      <a:pPr marL="171450" indent="-171450" algn="just">
                        <a:buFont typeface="Arial" panose="020B0604020202020204" pitchFamily="34" charset="0"/>
                        <a:buChar char="•"/>
                      </a:pPr>
                      <a:r>
                        <a:rPr lang="en-US" sz="1200" b="1" dirty="0"/>
                        <a:t>Computationally intensive</a:t>
                      </a:r>
                      <a:endParaRPr lang="en-US" sz="1200" dirty="0"/>
                    </a:p>
                    <a:p>
                      <a:pPr algn="just"/>
                      <a:endParaRPr lang="en-IN" sz="1200" dirty="0"/>
                    </a:p>
                  </a:txBody>
                  <a:tcPr/>
                </a:tc>
                <a:extLst>
                  <a:ext uri="{0D108BD9-81ED-4DB2-BD59-A6C34878D82A}">
                    <a16:rowId xmlns:a16="http://schemas.microsoft.com/office/drawing/2014/main" val="3444196086"/>
                  </a:ext>
                </a:extLst>
              </a:tr>
              <a:tr h="2480940">
                <a:tc>
                  <a:txBody>
                    <a:bodyPr/>
                    <a:lstStyle/>
                    <a:p>
                      <a:pPr algn="just"/>
                      <a:r>
                        <a:rPr lang="en-US" dirty="0"/>
                        <a:t>4</a:t>
                      </a:r>
                      <a:endParaRPr lang="en-IN" dirty="0"/>
                    </a:p>
                  </a:txBody>
                  <a:tcPr/>
                </a:tc>
                <a:tc>
                  <a:txBody>
                    <a:bodyPr/>
                    <a:lstStyle/>
                    <a:p>
                      <a:pPr algn="just"/>
                      <a:r>
                        <a:rPr lang="en-IN" sz="1200" dirty="0"/>
                        <a:t>"Real-Time Network Anomaly Detection System Using Machine Learning," by T. Z. Farooqi and F. A. Shah</a:t>
                      </a:r>
                    </a:p>
                  </a:txBody>
                  <a:tcPr/>
                </a:tc>
                <a:tc>
                  <a:txBody>
                    <a:bodyPr/>
                    <a:lstStyle/>
                    <a:p>
                      <a:pPr algn="just"/>
                      <a:r>
                        <a:rPr lang="en-US" sz="1200" dirty="0"/>
                        <a:t>2021</a:t>
                      </a:r>
                      <a:endParaRPr lang="en-IN" sz="1200" dirty="0"/>
                    </a:p>
                  </a:txBody>
                  <a:tcPr/>
                </a:tc>
                <a:tc>
                  <a:txBody>
                    <a:bodyPr/>
                    <a:lstStyle/>
                    <a:p>
                      <a:pPr algn="just"/>
                      <a:r>
                        <a:rPr lang="en-IN" sz="1200" dirty="0"/>
                        <a:t>IEEE Conference on Security and Privacy</a:t>
                      </a:r>
                    </a:p>
                  </a:txBody>
                  <a:tcPr/>
                </a:tc>
                <a:tc>
                  <a:txBody>
                    <a:bodyPr/>
                    <a:lstStyle/>
                    <a:p>
                      <a:pPr marL="171450" indent="-171450" algn="just">
                        <a:buFont typeface="Arial" panose="020B0604020202020204" pitchFamily="34" charset="0"/>
                        <a:buChar char="•"/>
                      </a:pPr>
                      <a:r>
                        <a:rPr lang="en-US" sz="1200" b="1" dirty="0"/>
                        <a:t>Supervised &amp; Unsupervised ML</a:t>
                      </a:r>
                      <a:r>
                        <a:rPr lang="en-US" sz="1200" dirty="0"/>
                        <a:t> (e.g., SVM, K-Means).</a:t>
                      </a:r>
                    </a:p>
                    <a:p>
                      <a:pPr marL="171450" indent="-171450" algn="just">
                        <a:buFont typeface="Arial" panose="020B0604020202020204" pitchFamily="34" charset="0"/>
                        <a:buChar char="•"/>
                      </a:pPr>
                      <a:r>
                        <a:rPr lang="en-US" sz="1200" dirty="0"/>
                        <a:t>Focus on </a:t>
                      </a:r>
                      <a:r>
                        <a:rPr lang="en-US" sz="1200" b="1" dirty="0"/>
                        <a:t>real-time network traffic</a:t>
                      </a:r>
                      <a:r>
                        <a:rPr lang="en-US" sz="1200" dirty="0"/>
                        <a:t>.</a:t>
                      </a:r>
                    </a:p>
                    <a:p>
                      <a:pPr algn="just"/>
                      <a:endParaRPr lang="en-IN" sz="1200" dirty="0"/>
                    </a:p>
                  </a:txBody>
                  <a:tcPr/>
                </a:tc>
                <a:tc>
                  <a:txBody>
                    <a:bodyPr/>
                    <a:lstStyle/>
                    <a:p>
                      <a:pPr algn="just"/>
                      <a:r>
                        <a:rPr lang="en-US" sz="1200" b="1" dirty="0"/>
                        <a:t>Real-time anomaly detection</a:t>
                      </a:r>
                      <a:r>
                        <a:rPr lang="en-US" sz="1200" dirty="0"/>
                        <a:t> with </a:t>
                      </a:r>
                      <a:r>
                        <a:rPr lang="en-US" sz="1200" b="1" dirty="0"/>
                        <a:t>hybrid models</a:t>
                      </a:r>
                      <a:endParaRPr lang="en-IN" sz="1200" dirty="0"/>
                    </a:p>
                  </a:txBody>
                  <a:tcPr/>
                </a:tc>
                <a:tc>
                  <a:txBody>
                    <a:bodyPr/>
                    <a:lstStyle/>
                    <a:p>
                      <a:pPr algn="just"/>
                      <a:r>
                        <a:rPr lang="en-US" sz="1200" dirty="0"/>
                        <a:t>Advantages:</a:t>
                      </a:r>
                    </a:p>
                    <a:p>
                      <a:pPr marL="171450" indent="-171450" algn="just">
                        <a:buFont typeface="Arial" panose="020B0604020202020204" pitchFamily="34" charset="0"/>
                        <a:buChar char="•"/>
                      </a:pPr>
                      <a:r>
                        <a:rPr lang="en-US" sz="1200" b="1" dirty="0"/>
                        <a:t>Efficient</a:t>
                      </a:r>
                      <a:r>
                        <a:rPr lang="en-US" sz="1200" dirty="0"/>
                        <a:t> and </a:t>
                      </a:r>
                      <a:r>
                        <a:rPr lang="en-US" sz="1200" b="1" dirty="0"/>
                        <a:t>low false positives</a:t>
                      </a:r>
                    </a:p>
                    <a:p>
                      <a:pPr marL="0" indent="0" algn="just">
                        <a:buFont typeface="Arial" panose="020B0604020202020204" pitchFamily="34" charset="0"/>
                        <a:buNone/>
                      </a:pPr>
                      <a:r>
                        <a:rPr lang="en-US" sz="1200" b="0" dirty="0"/>
                        <a:t>Disadvantages:</a:t>
                      </a:r>
                    </a:p>
                    <a:p>
                      <a:pPr marL="171450" indent="-171450" algn="just">
                        <a:buFont typeface="Arial" panose="020B0604020202020204" pitchFamily="34" charset="0"/>
                        <a:buChar char="•"/>
                      </a:pPr>
                      <a:r>
                        <a:rPr lang="en-US" sz="1200" dirty="0"/>
                        <a:t>Needs </a:t>
                      </a:r>
                      <a:r>
                        <a:rPr lang="en-US" sz="1200" b="1" dirty="0"/>
                        <a:t>quality data</a:t>
                      </a:r>
                      <a:r>
                        <a:rPr lang="en-US" sz="1200" dirty="0"/>
                        <a:t>.</a:t>
                      </a:r>
                    </a:p>
                    <a:p>
                      <a:pPr marL="171450" indent="-171450" algn="just">
                        <a:buFont typeface="Arial" panose="020B0604020202020204" pitchFamily="34" charset="0"/>
                        <a:buChar char="•"/>
                      </a:pPr>
                      <a:r>
                        <a:rPr lang="en-US" sz="1200" b="1" dirty="0"/>
                        <a:t>Scalability</a:t>
                      </a:r>
                      <a:r>
                        <a:rPr lang="en-US" sz="1200" dirty="0"/>
                        <a:t> challenges</a:t>
                      </a:r>
                    </a:p>
                    <a:p>
                      <a:pPr marL="0" indent="0" algn="just">
                        <a:buFont typeface="Arial" panose="020B0604020202020204" pitchFamily="34" charset="0"/>
                        <a:buNone/>
                      </a:pPr>
                      <a:endParaRPr lang="en-IN" sz="1200" b="0" dirty="0"/>
                    </a:p>
                  </a:txBody>
                  <a:tcPr/>
                </a:tc>
                <a:extLst>
                  <a:ext uri="{0D108BD9-81ED-4DB2-BD59-A6C34878D82A}">
                    <a16:rowId xmlns:a16="http://schemas.microsoft.com/office/drawing/2014/main" val="786086606"/>
                  </a:ext>
                </a:extLst>
              </a:tr>
            </a:tbl>
          </a:graphicData>
        </a:graphic>
      </p:graphicFrame>
    </p:spTree>
    <p:extLst>
      <p:ext uri="{BB962C8B-B14F-4D97-AF65-F5344CB8AC3E}">
        <p14:creationId xmlns:p14="http://schemas.microsoft.com/office/powerpoint/2010/main" val="3586918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9189BB4-3FB6-DC79-E953-868D267ECE85}"/>
            </a:ext>
          </a:extLst>
        </p:cNvPr>
        <p:cNvGrpSpPr/>
        <p:nvPr/>
      </p:nvGrpSpPr>
      <p:grpSpPr>
        <a:xfrm>
          <a:off x="0" y="0"/>
          <a:ext cx="0" cy="0"/>
          <a:chOff x="0" y="0"/>
          <a:chExt cx="0" cy="0"/>
        </a:xfrm>
      </p:grpSpPr>
      <p:grpSp>
        <p:nvGrpSpPr>
          <p:cNvPr id="156" name="Google Shape;156;p18">
            <a:extLst>
              <a:ext uri="{FF2B5EF4-FFF2-40B4-BE49-F238E27FC236}">
                <a16:creationId xmlns:a16="http://schemas.microsoft.com/office/drawing/2014/main" id="{DEF70E4B-007D-C0EC-CC7C-D346381A4BB6}"/>
              </a:ext>
            </a:extLst>
          </p:cNvPr>
          <p:cNvGrpSpPr/>
          <p:nvPr/>
        </p:nvGrpSpPr>
        <p:grpSpPr>
          <a:xfrm>
            <a:off x="15033" y="223935"/>
            <a:ext cx="12176967" cy="6630358"/>
            <a:chOff x="0" y="118871"/>
            <a:chExt cx="9144000" cy="4978908"/>
          </a:xfrm>
        </p:grpSpPr>
        <p:pic>
          <p:nvPicPr>
            <p:cNvPr id="157" name="Google Shape;157;p18">
              <a:extLst>
                <a:ext uri="{FF2B5EF4-FFF2-40B4-BE49-F238E27FC236}">
                  <a16:creationId xmlns:a16="http://schemas.microsoft.com/office/drawing/2014/main" id="{EBCFADDC-3281-DFD5-D950-0A413207BA6A}"/>
                </a:ext>
              </a:extLst>
            </p:cNvPr>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58" name="Google Shape;158;p18">
              <a:extLst>
                <a:ext uri="{FF2B5EF4-FFF2-40B4-BE49-F238E27FC236}">
                  <a16:creationId xmlns:a16="http://schemas.microsoft.com/office/drawing/2014/main" id="{DFB055C7-2E68-EF95-94ED-670358FEF3A4}"/>
                </a:ext>
              </a:extLst>
            </p:cNvPr>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59" name="Google Shape;159;p18">
              <a:extLst>
                <a:ext uri="{FF2B5EF4-FFF2-40B4-BE49-F238E27FC236}">
                  <a16:creationId xmlns:a16="http://schemas.microsoft.com/office/drawing/2014/main" id="{DB6A9886-089F-DE25-679A-78217B2CA16E}"/>
                </a:ext>
              </a:extLst>
            </p:cNvPr>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60" name="Google Shape;160;p18">
              <a:extLst>
                <a:ext uri="{FF2B5EF4-FFF2-40B4-BE49-F238E27FC236}">
                  <a16:creationId xmlns:a16="http://schemas.microsoft.com/office/drawing/2014/main" id="{1033D6AC-A0C2-16EE-B3FF-7D957D4BC299}"/>
                </a:ext>
              </a:extLst>
            </p:cNvPr>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61" name="Google Shape;161;p18" descr="https://lh7-us.googleusercontent.com/7ridFL7yczpWVCpPt4tsvP1mrI2juajd_SUhdJlST8S-oKcdijIgkSnaMC4UjbZ0h2AVaBmX4gX0v7iO6Nn55bkNpv7i2fhIqtqG_0iRA5BPZP9SPx1afMmJsWkxvFSxhhAfeP_no4vgIwNpH2alwQ">
            <a:extLst>
              <a:ext uri="{FF2B5EF4-FFF2-40B4-BE49-F238E27FC236}">
                <a16:creationId xmlns:a16="http://schemas.microsoft.com/office/drawing/2014/main" id="{2E35149E-C088-0E2E-02C1-ADEAB4B87B3E}"/>
              </a:ext>
            </a:extLst>
          </p:cNvPr>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62" name="Google Shape;162;p18">
            <a:extLst>
              <a:ext uri="{FF2B5EF4-FFF2-40B4-BE49-F238E27FC236}">
                <a16:creationId xmlns:a16="http://schemas.microsoft.com/office/drawing/2014/main" id="{01AD86C6-B7C5-CCE0-CB6C-B729C4009C3D}"/>
              </a:ext>
            </a:extLst>
          </p:cNvPr>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63" name="Google Shape;163;p18">
            <a:extLst>
              <a:ext uri="{FF2B5EF4-FFF2-40B4-BE49-F238E27FC236}">
                <a16:creationId xmlns:a16="http://schemas.microsoft.com/office/drawing/2014/main" id="{F1B4F1B8-6CBD-7EA4-87A4-4182ED856E80}"/>
              </a:ext>
            </a:extLst>
          </p:cNvPr>
          <p:cNvSpPr txBox="1"/>
          <p:nvPr/>
        </p:nvSpPr>
        <p:spPr>
          <a:xfrm>
            <a:off x="685799" y="212725"/>
            <a:ext cx="9476509" cy="446917"/>
          </a:xfrm>
          <a:prstGeom prst="rect">
            <a:avLst/>
          </a:prstGeom>
          <a:noFill/>
          <a:ln>
            <a:noFill/>
          </a:ln>
        </p:spPr>
        <p:txBody>
          <a:bodyPr spcFirstLastPara="1" wrap="square" lIns="0" tIns="15875" rIns="0" bIns="0" anchor="t" anchorCtr="0">
            <a:spAutoFit/>
          </a:bodyPr>
          <a:lstStyle/>
          <a:p>
            <a:pPr marL="12700" marR="0" lvl="0" indent="0" algn="ctr" rtl="0">
              <a:spcBef>
                <a:spcPts val="0"/>
              </a:spcBef>
              <a:spcAft>
                <a:spcPts val="0"/>
              </a:spcAft>
              <a:buNone/>
            </a:pPr>
            <a:r>
              <a:rPr lang="en-US" sz="2800" b="1" i="0">
                <a:solidFill>
                  <a:srgbClr val="365F92"/>
                </a:solidFill>
                <a:latin typeface="Cambria"/>
                <a:ea typeface="Cambria"/>
                <a:cs typeface="Cambria"/>
                <a:sym typeface="Cambria"/>
              </a:rPr>
              <a:t>LITERATURE SURVEY PAPERS/REFERENCES PAPERS</a:t>
            </a:r>
            <a:endParaRPr sz="3150" b="1" i="0" u="none" strike="noStrike" cap="none">
              <a:solidFill>
                <a:srgbClr val="365F92"/>
              </a:solidFill>
              <a:latin typeface="Cambria"/>
              <a:ea typeface="Cambria"/>
              <a:cs typeface="Cambria"/>
              <a:sym typeface="Cambria"/>
            </a:endParaRPr>
          </a:p>
        </p:txBody>
      </p:sp>
      <p:sp>
        <p:nvSpPr>
          <p:cNvPr id="164" name="Google Shape;164;p18">
            <a:extLst>
              <a:ext uri="{FF2B5EF4-FFF2-40B4-BE49-F238E27FC236}">
                <a16:creationId xmlns:a16="http://schemas.microsoft.com/office/drawing/2014/main" id="{89059E8E-AAB3-79DC-49E1-6B9CCA8DA1DC}"/>
              </a:ext>
            </a:extLst>
          </p:cNvPr>
          <p:cNvSpPr/>
          <p:nvPr/>
        </p:nvSpPr>
        <p:spPr>
          <a:xfrm>
            <a:off x="746873" y="1105748"/>
            <a:ext cx="11244235"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D66EECDD-84AB-AC31-4EA0-579D715CB3FA}"/>
              </a:ext>
            </a:extLst>
          </p:cNvPr>
          <p:cNvGraphicFramePr>
            <a:graphicFrameLocks noGrp="1"/>
          </p:cNvGraphicFramePr>
          <p:nvPr>
            <p:extLst>
              <p:ext uri="{D42A27DB-BD31-4B8C-83A1-F6EECF244321}">
                <p14:modId xmlns:p14="http://schemas.microsoft.com/office/powerpoint/2010/main" val="2198876705"/>
              </p:ext>
            </p:extLst>
          </p:nvPr>
        </p:nvGraphicFramePr>
        <p:xfrm>
          <a:off x="1415480" y="1105748"/>
          <a:ext cx="8617519" cy="5203571"/>
        </p:xfrm>
        <a:graphic>
          <a:graphicData uri="http://schemas.openxmlformats.org/drawingml/2006/table">
            <a:tbl>
              <a:tblPr firstRow="1" bandRow="1">
                <a:tableStyleId>{5940675A-B579-460E-94D1-54222C63F5DA}</a:tableStyleId>
              </a:tblPr>
              <a:tblGrid>
                <a:gridCol w="1299679">
                  <a:extLst>
                    <a:ext uri="{9D8B030D-6E8A-4147-A177-3AD203B41FA5}">
                      <a16:colId xmlns:a16="http://schemas.microsoft.com/office/drawing/2014/main" val="4061674289"/>
                    </a:ext>
                  </a:extLst>
                </a:gridCol>
                <a:gridCol w="1219640">
                  <a:extLst>
                    <a:ext uri="{9D8B030D-6E8A-4147-A177-3AD203B41FA5}">
                      <a16:colId xmlns:a16="http://schemas.microsoft.com/office/drawing/2014/main" val="1336979857"/>
                    </a:ext>
                  </a:extLst>
                </a:gridCol>
                <a:gridCol w="1219640">
                  <a:extLst>
                    <a:ext uri="{9D8B030D-6E8A-4147-A177-3AD203B41FA5}">
                      <a16:colId xmlns:a16="http://schemas.microsoft.com/office/drawing/2014/main" val="1014152826"/>
                    </a:ext>
                  </a:extLst>
                </a:gridCol>
                <a:gridCol w="1219640">
                  <a:extLst>
                    <a:ext uri="{9D8B030D-6E8A-4147-A177-3AD203B41FA5}">
                      <a16:colId xmlns:a16="http://schemas.microsoft.com/office/drawing/2014/main" val="2667778716"/>
                    </a:ext>
                  </a:extLst>
                </a:gridCol>
                <a:gridCol w="1219640">
                  <a:extLst>
                    <a:ext uri="{9D8B030D-6E8A-4147-A177-3AD203B41FA5}">
                      <a16:colId xmlns:a16="http://schemas.microsoft.com/office/drawing/2014/main" val="3739373457"/>
                    </a:ext>
                  </a:extLst>
                </a:gridCol>
                <a:gridCol w="1219640">
                  <a:extLst>
                    <a:ext uri="{9D8B030D-6E8A-4147-A177-3AD203B41FA5}">
                      <a16:colId xmlns:a16="http://schemas.microsoft.com/office/drawing/2014/main" val="8832954"/>
                    </a:ext>
                  </a:extLst>
                </a:gridCol>
                <a:gridCol w="1219640">
                  <a:extLst>
                    <a:ext uri="{9D8B030D-6E8A-4147-A177-3AD203B41FA5}">
                      <a16:colId xmlns:a16="http://schemas.microsoft.com/office/drawing/2014/main" val="96942744"/>
                    </a:ext>
                  </a:extLst>
                </a:gridCol>
              </a:tblGrid>
              <a:tr h="2422352">
                <a:tc>
                  <a:txBody>
                    <a:bodyPr/>
                    <a:lstStyle/>
                    <a:p>
                      <a:pPr algn="just"/>
                      <a:r>
                        <a:rPr lang="en-US" dirty="0"/>
                        <a:t>5</a:t>
                      </a:r>
                      <a:endParaRPr lang="en-IN" dirty="0"/>
                    </a:p>
                  </a:txBody>
                  <a:tcPr/>
                </a:tc>
                <a:tc>
                  <a:txBody>
                    <a:bodyPr/>
                    <a:lstStyle/>
                    <a:p>
                      <a:pPr algn="just"/>
                      <a:r>
                        <a:rPr lang="en-IN" sz="1200" dirty="0"/>
                        <a:t>"Deep Learning for Network Anomalies Detection," by H. A. Mahmoud and R. E. Mahmoud </a:t>
                      </a:r>
                    </a:p>
                  </a:txBody>
                  <a:tcPr/>
                </a:tc>
                <a:tc>
                  <a:txBody>
                    <a:bodyPr/>
                    <a:lstStyle/>
                    <a:p>
                      <a:pPr algn="just"/>
                      <a:r>
                        <a:rPr lang="en-US" sz="1200" dirty="0"/>
                        <a:t>2020</a:t>
                      </a:r>
                      <a:endParaRPr lang="en-IN" sz="1200" dirty="0"/>
                    </a:p>
                  </a:txBody>
                  <a:tcPr/>
                </a:tc>
                <a:tc>
                  <a:txBody>
                    <a:bodyPr/>
                    <a:lstStyle/>
                    <a:p>
                      <a:pPr algn="just"/>
                      <a:r>
                        <a:rPr lang="en-IN" sz="1200" dirty="0"/>
                        <a:t>IEEE International Conference on Cyber Security</a:t>
                      </a:r>
                    </a:p>
                  </a:txBody>
                  <a:tcPr/>
                </a:tc>
                <a:tc>
                  <a:txBody>
                    <a:bodyPr/>
                    <a:lstStyle/>
                    <a:p>
                      <a:pPr algn="just"/>
                      <a:r>
                        <a:rPr lang="en-US" sz="1200" b="1" dirty="0"/>
                        <a:t>Deep Learning</a:t>
                      </a:r>
                      <a:r>
                        <a:rPr lang="en-US" sz="1200" dirty="0"/>
                        <a:t> (Autoencoders, LSTMs) for </a:t>
                      </a:r>
                      <a:r>
                        <a:rPr lang="en-US" sz="1200" b="1" dirty="0"/>
                        <a:t>unsupervised anomaly detection</a:t>
                      </a:r>
                      <a:endParaRPr lang="en-IN" sz="1200" dirty="0"/>
                    </a:p>
                  </a:txBody>
                  <a:tcPr/>
                </a:tc>
                <a:tc>
                  <a:txBody>
                    <a:bodyPr/>
                    <a:lstStyle/>
                    <a:p>
                      <a:pPr algn="just"/>
                      <a:r>
                        <a:rPr lang="en-IN" sz="1200" b="1" dirty="0"/>
                        <a:t>Deep learning-based</a:t>
                      </a:r>
                      <a:r>
                        <a:rPr lang="en-IN" sz="1200" dirty="0"/>
                        <a:t>, </a:t>
                      </a:r>
                      <a:r>
                        <a:rPr lang="en-IN" sz="1200" b="1" dirty="0"/>
                        <a:t>unsupervised</a:t>
                      </a:r>
                      <a:r>
                        <a:rPr lang="en-IN" sz="1200" dirty="0"/>
                        <a:t> approach.</a:t>
                      </a:r>
                    </a:p>
                  </a:txBody>
                  <a:tcPr/>
                </a:tc>
                <a:tc>
                  <a:txBody>
                    <a:bodyPr/>
                    <a:lstStyle/>
                    <a:p>
                      <a:pPr algn="just"/>
                      <a:r>
                        <a:rPr lang="en-US" sz="1200" dirty="0"/>
                        <a:t>Advantages:</a:t>
                      </a:r>
                    </a:p>
                    <a:p>
                      <a:pPr algn="just"/>
                      <a:r>
                        <a:rPr lang="en-IN" sz="1200" b="1" dirty="0"/>
                        <a:t>Accurate</a:t>
                      </a:r>
                      <a:r>
                        <a:rPr lang="en-IN" sz="1200" dirty="0"/>
                        <a:t> and </a:t>
                      </a:r>
                      <a:r>
                        <a:rPr lang="en-IN" sz="1200" b="1" dirty="0"/>
                        <a:t>adaptive</a:t>
                      </a:r>
                      <a:r>
                        <a:rPr lang="en-IN" sz="1200" dirty="0"/>
                        <a:t>.</a:t>
                      </a:r>
                    </a:p>
                    <a:p>
                      <a:pPr algn="just"/>
                      <a:r>
                        <a:rPr lang="en-IN" sz="1200" dirty="0"/>
                        <a:t>Disadvantages:</a:t>
                      </a:r>
                    </a:p>
                    <a:p>
                      <a:pPr marL="171450" indent="-171450" algn="just">
                        <a:buFont typeface="Arial" panose="020B0604020202020204" pitchFamily="34" charset="0"/>
                        <a:buChar char="•"/>
                      </a:pPr>
                      <a:r>
                        <a:rPr lang="en-US" sz="1200" b="1" dirty="0"/>
                        <a:t>High computational cost</a:t>
                      </a:r>
                      <a:r>
                        <a:rPr lang="en-US" sz="1200" dirty="0"/>
                        <a:t>.</a:t>
                      </a:r>
                    </a:p>
                    <a:p>
                      <a:pPr marL="171450" indent="-171450" algn="just">
                        <a:buFont typeface="Arial" panose="020B0604020202020204" pitchFamily="34" charset="0"/>
                        <a:buChar char="•"/>
                      </a:pPr>
                      <a:r>
                        <a:rPr lang="en-US" sz="1200" dirty="0"/>
                        <a:t>Needs </a:t>
                      </a:r>
                      <a:r>
                        <a:rPr lang="en-US" sz="1200" b="1" dirty="0"/>
                        <a:t>large labeled data</a:t>
                      </a:r>
                      <a:endParaRPr lang="en-US" sz="1200" dirty="0"/>
                    </a:p>
                    <a:p>
                      <a:pPr algn="just"/>
                      <a:endParaRPr lang="en-IN" sz="1200" dirty="0"/>
                    </a:p>
                  </a:txBody>
                  <a:tcPr/>
                </a:tc>
                <a:extLst>
                  <a:ext uri="{0D108BD9-81ED-4DB2-BD59-A6C34878D82A}">
                    <a16:rowId xmlns:a16="http://schemas.microsoft.com/office/drawing/2014/main" val="1004357322"/>
                  </a:ext>
                </a:extLst>
              </a:tr>
              <a:tr h="2781219">
                <a:tc>
                  <a:txBody>
                    <a:bodyPr/>
                    <a:lstStyle/>
                    <a:p>
                      <a:pPr algn="just"/>
                      <a:r>
                        <a:rPr lang="en-US" dirty="0"/>
                        <a:t>6</a:t>
                      </a:r>
                      <a:endParaRPr lang="en-IN" dirty="0"/>
                    </a:p>
                  </a:txBody>
                  <a:tcPr/>
                </a:tc>
                <a:tc>
                  <a:txBody>
                    <a:bodyPr/>
                    <a:lstStyle/>
                    <a:p>
                      <a:pPr algn="just"/>
                      <a:r>
                        <a:rPr lang="en-IN" sz="1200" dirty="0"/>
                        <a:t>"Anomaly Detection in IoT Sensor Networks Using Machine Learning,“ by M. H. </a:t>
                      </a:r>
                      <a:r>
                        <a:rPr lang="en-IN" sz="1200" dirty="0" err="1"/>
                        <a:t>Alshahrani</a:t>
                      </a:r>
                      <a:r>
                        <a:rPr lang="en-IN" sz="1200" dirty="0"/>
                        <a:t>, Y. Luo, and F. Wu</a:t>
                      </a:r>
                    </a:p>
                  </a:txBody>
                  <a:tcPr/>
                </a:tc>
                <a:tc>
                  <a:txBody>
                    <a:bodyPr/>
                    <a:lstStyle/>
                    <a:p>
                      <a:pPr algn="just"/>
                      <a:r>
                        <a:rPr lang="en-US" sz="1200" dirty="0"/>
                        <a:t>2022</a:t>
                      </a:r>
                      <a:endParaRPr lang="en-IN" sz="1200" dirty="0"/>
                    </a:p>
                  </a:txBody>
                  <a:tcPr/>
                </a:tc>
                <a:tc>
                  <a:txBody>
                    <a:bodyPr/>
                    <a:lstStyle/>
                    <a:p>
                      <a:pPr algn="just"/>
                      <a:r>
                        <a:rPr lang="en-IN" sz="1200" dirty="0"/>
                        <a:t>IEEE Internet of Things Journal</a:t>
                      </a:r>
                    </a:p>
                  </a:txBody>
                  <a:tcPr/>
                </a:tc>
                <a:tc>
                  <a:txBody>
                    <a:bodyPr/>
                    <a:lstStyle/>
                    <a:p>
                      <a:pPr algn="just"/>
                      <a:r>
                        <a:rPr lang="en-US" sz="1200" b="1" dirty="0"/>
                        <a:t>Supervised &amp; Unsupervised ML</a:t>
                      </a:r>
                      <a:r>
                        <a:rPr lang="en-US" sz="1200" dirty="0"/>
                        <a:t> (e.g., Decision Trees, K-Means) for </a:t>
                      </a:r>
                      <a:r>
                        <a:rPr lang="en-US" sz="1200" b="1" dirty="0"/>
                        <a:t>IoT sensor networks</a:t>
                      </a:r>
                      <a:endParaRPr lang="en-IN" sz="1200" dirty="0"/>
                    </a:p>
                  </a:txBody>
                  <a:tcPr/>
                </a:tc>
                <a:tc>
                  <a:txBody>
                    <a:bodyPr/>
                    <a:lstStyle/>
                    <a:p>
                      <a:pPr algn="just"/>
                      <a:r>
                        <a:rPr lang="en-US" sz="1200" dirty="0"/>
                        <a:t>Focus on </a:t>
                      </a:r>
                      <a:r>
                        <a:rPr lang="en-US" sz="1200" b="1" dirty="0"/>
                        <a:t>IoT sensor data</a:t>
                      </a:r>
                      <a:r>
                        <a:rPr lang="en-US" sz="1200" dirty="0"/>
                        <a:t> and </a:t>
                      </a:r>
                      <a:r>
                        <a:rPr lang="en-US" sz="1200" b="1" dirty="0"/>
                        <a:t>real-time anomaly detection</a:t>
                      </a:r>
                      <a:r>
                        <a:rPr lang="en-US" sz="1200" dirty="0"/>
                        <a:t>.</a:t>
                      </a:r>
                      <a:endParaRPr lang="en-IN" sz="1200" dirty="0"/>
                    </a:p>
                  </a:txBody>
                  <a:tcPr/>
                </a:tc>
                <a:tc>
                  <a:txBody>
                    <a:bodyPr/>
                    <a:lstStyle/>
                    <a:p>
                      <a:pPr algn="just"/>
                      <a:r>
                        <a:rPr lang="en-US" sz="1200" dirty="0"/>
                        <a:t>Advantages:</a:t>
                      </a:r>
                    </a:p>
                    <a:p>
                      <a:pPr marL="171450" indent="-171450" algn="just">
                        <a:buFont typeface="Arial" panose="020B0604020202020204" pitchFamily="34" charset="0"/>
                        <a:buChar char="•"/>
                      </a:pPr>
                      <a:r>
                        <a:rPr lang="en-US" sz="1200" b="1" dirty="0"/>
                        <a:t>Efficient</a:t>
                      </a:r>
                      <a:r>
                        <a:rPr lang="en-US" sz="1200" dirty="0"/>
                        <a:t> in IoT.</a:t>
                      </a:r>
                    </a:p>
                    <a:p>
                      <a:pPr marL="171450" indent="-171450" algn="just">
                        <a:buFont typeface="Arial" panose="020B0604020202020204" pitchFamily="34" charset="0"/>
                        <a:buChar char="•"/>
                      </a:pPr>
                      <a:r>
                        <a:rPr lang="en-US" sz="1200" b="1" dirty="0"/>
                        <a:t>Real-time</a:t>
                      </a:r>
                      <a:r>
                        <a:rPr lang="en-US" sz="1200" dirty="0"/>
                        <a:t> detection</a:t>
                      </a:r>
                    </a:p>
                    <a:p>
                      <a:pPr marL="0" indent="0" algn="just">
                        <a:buFont typeface="Arial" panose="020B0604020202020204" pitchFamily="34" charset="0"/>
                        <a:buNone/>
                      </a:pPr>
                      <a:r>
                        <a:rPr lang="en-US" sz="1200" dirty="0"/>
                        <a:t>Disadvantages:</a:t>
                      </a:r>
                    </a:p>
                    <a:p>
                      <a:pPr marL="171450" indent="-171450" algn="just">
                        <a:buFont typeface="Arial" panose="020B0604020202020204" pitchFamily="34" charset="0"/>
                        <a:buChar char="•"/>
                      </a:pPr>
                      <a:r>
                        <a:rPr lang="en-US" sz="1200" b="1" dirty="0"/>
                        <a:t>Data quality</a:t>
                      </a:r>
                      <a:r>
                        <a:rPr lang="en-US" sz="1200" dirty="0"/>
                        <a:t> issues.</a:t>
                      </a:r>
                    </a:p>
                    <a:p>
                      <a:pPr marL="171450" indent="-171450" algn="just">
                        <a:buFont typeface="Arial" panose="020B0604020202020204" pitchFamily="34" charset="0"/>
                        <a:buChar char="•"/>
                      </a:pPr>
                      <a:r>
                        <a:rPr lang="en-US" sz="1200" b="1" dirty="0"/>
                        <a:t>High computational cost</a:t>
                      </a:r>
                      <a:r>
                        <a:rPr lang="en-US" sz="1200" dirty="0"/>
                        <a:t>.</a:t>
                      </a:r>
                    </a:p>
                    <a:p>
                      <a:pPr marL="0" indent="0" algn="just">
                        <a:buFont typeface="Arial" panose="020B0604020202020204" pitchFamily="34" charset="0"/>
                        <a:buNone/>
                      </a:pPr>
                      <a:endParaRPr lang="en-US" sz="1200" dirty="0"/>
                    </a:p>
                    <a:p>
                      <a:pPr algn="just"/>
                      <a:endParaRPr lang="en-IN" sz="1200" dirty="0"/>
                    </a:p>
                  </a:txBody>
                  <a:tcPr/>
                </a:tc>
                <a:extLst>
                  <a:ext uri="{0D108BD9-81ED-4DB2-BD59-A6C34878D82A}">
                    <a16:rowId xmlns:a16="http://schemas.microsoft.com/office/drawing/2014/main" val="1793046964"/>
                  </a:ext>
                </a:extLst>
              </a:tr>
            </a:tbl>
          </a:graphicData>
        </a:graphic>
      </p:graphicFrame>
    </p:spTree>
    <p:extLst>
      <p:ext uri="{BB962C8B-B14F-4D97-AF65-F5344CB8AC3E}">
        <p14:creationId xmlns:p14="http://schemas.microsoft.com/office/powerpoint/2010/main" val="3154069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algn="just">
              <a:buNone/>
            </a:pPr>
            <a:r>
              <a:rPr lang="en-US" dirty="0"/>
              <a:t>With the growing dependence on digital networks and the rapid evolution of cyber threats, safeguarding network infrastructure has become more challenging than ever. Traditional intrusion detection systems often fall short when it comes to identifying new and sophisticated attacks, leading to increased vulnerability and potential data breaches. The rising frequency of zero-day attacks, malware, and advanced persistent threats highlights the urgent need for more intelligent and adaptable security solutions.</a:t>
            </a:r>
          </a:p>
          <a:p>
            <a:pPr marL="114300" indent="0">
              <a:buNone/>
            </a:pPr>
            <a:r>
              <a:rPr lang="en-US" dirty="0"/>
              <a:t>Machine learning offers a promising approach to address these challenges by automatically learning and identifying complex patterns in network traffic. The ability of machine learning models to detect anomalies — including previously unseen attacks — motivates the development of an advanced, automated anomaly detection system. By leveraging modern datasets, scalable algorithms, and effective feature selection techniques, this project aims to provide a robust, efficient, and real-time solution to enhance network security and protect valuable data assets.</a:t>
            </a:r>
          </a:p>
          <a:p>
            <a:pPr marL="228600" lvl="0" indent="-50800" algn="l" rtl="0">
              <a:lnSpc>
                <a:spcPct val="90000"/>
              </a:lnSpc>
              <a:spcBef>
                <a:spcPts val="0"/>
              </a:spcBef>
              <a:spcAft>
                <a:spcPts val="0"/>
              </a:spcAft>
              <a:buClr>
                <a:schemeClr val="dk1"/>
              </a:buClr>
              <a:buSzPts val="2800"/>
              <a:buNone/>
            </a:pPr>
            <a:endParaRPr dirty="0"/>
          </a:p>
        </p:txBody>
      </p:sp>
      <p:grpSp>
        <p:nvGrpSpPr>
          <p:cNvPr id="171" name="Google Shape;171;p19"/>
          <p:cNvGrpSpPr/>
          <p:nvPr/>
        </p:nvGrpSpPr>
        <p:grpSpPr>
          <a:xfrm>
            <a:off x="15033" y="223935"/>
            <a:ext cx="12176967" cy="6630358"/>
            <a:chOff x="0" y="118871"/>
            <a:chExt cx="9144000" cy="4978908"/>
          </a:xfrm>
        </p:grpSpPr>
        <p:pic>
          <p:nvPicPr>
            <p:cNvPr id="172" name="Google Shape;172;p19"/>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73" name="Google Shape;173;p19"/>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74" name="Google Shape;174;p19"/>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75" name="Google Shape;175;p19"/>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76" name="Google Shape;176;p19"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77" name="Google Shape;177;p19"/>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78" name="Google Shape;178;p19"/>
          <p:cNvSpPr txBox="1"/>
          <p:nvPr/>
        </p:nvSpPr>
        <p:spPr>
          <a:xfrm>
            <a:off x="2152649" y="211442"/>
            <a:ext cx="7886700" cy="500778"/>
          </a:xfrm>
          <a:prstGeom prst="rect">
            <a:avLst/>
          </a:prstGeom>
          <a:noFill/>
          <a:ln>
            <a:noFill/>
          </a:ln>
        </p:spPr>
        <p:txBody>
          <a:bodyPr spcFirstLastPara="1" wrap="square" lIns="0" tIns="15875" rIns="0" bIns="0" anchor="t" anchorCtr="0">
            <a:spAutoFit/>
          </a:bodyPr>
          <a:lstStyle/>
          <a:p>
            <a:pPr marL="12700" marR="0" lvl="0" indent="0" algn="ctr" rtl="0">
              <a:spcBef>
                <a:spcPts val="0"/>
              </a:spcBef>
              <a:spcAft>
                <a:spcPts val="0"/>
              </a:spcAft>
              <a:buNone/>
            </a:pPr>
            <a:r>
              <a:rPr lang="en-US" sz="3150" b="1" i="0">
                <a:solidFill>
                  <a:srgbClr val="365F92"/>
                </a:solidFill>
                <a:latin typeface="Cambria"/>
                <a:ea typeface="Cambria"/>
                <a:cs typeface="Cambria"/>
                <a:sym typeface="Cambria"/>
              </a:rPr>
              <a:t>MOTIVATION OF THE PROJECT</a:t>
            </a:r>
            <a:endParaRPr sz="3150" b="1" i="0" u="none" strike="noStrike" cap="none">
              <a:solidFill>
                <a:srgbClr val="365F92"/>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a:buNone/>
            </a:pPr>
            <a:r>
              <a:rPr lang="en-US" sz="1800" b="1" dirty="0"/>
              <a:t>Objective</a:t>
            </a:r>
          </a:p>
          <a:p>
            <a:pPr marL="114300" indent="0">
              <a:buNone/>
            </a:pPr>
            <a:r>
              <a:rPr lang="en-US" sz="1800" dirty="0"/>
              <a:t>The main objective of this project is to design and implement a machine learning-based anomaly detection system that can accurately identify both known and unknown intrusions in network traffic. The system aims to improve detection accuracy, reduce false positives, and operate in near real-time to enhance network security.</a:t>
            </a:r>
          </a:p>
          <a:p>
            <a:pPr>
              <a:buNone/>
            </a:pPr>
            <a:r>
              <a:rPr lang="en-US" sz="1800" b="1" dirty="0"/>
              <a:t>Scope</a:t>
            </a:r>
          </a:p>
          <a:p>
            <a:pPr>
              <a:buFont typeface="Arial" panose="020B0604020202020204" pitchFamily="34" charset="0"/>
              <a:buChar char="•"/>
            </a:pPr>
            <a:r>
              <a:rPr lang="en-US" sz="1800" dirty="0"/>
              <a:t>Develop a system using machine learning algorithms such as Isolation Forest.</a:t>
            </a:r>
          </a:p>
          <a:p>
            <a:pPr>
              <a:buFont typeface="Arial" panose="020B0604020202020204" pitchFamily="34" charset="0"/>
              <a:buChar char="•"/>
            </a:pPr>
            <a:r>
              <a:rPr lang="en-US" sz="1800" dirty="0"/>
              <a:t>Preprocess network traffic data using feature selection.</a:t>
            </a:r>
          </a:p>
          <a:p>
            <a:pPr>
              <a:buFont typeface="Arial" panose="020B0604020202020204" pitchFamily="34" charset="0"/>
              <a:buChar char="•"/>
            </a:pPr>
            <a:r>
              <a:rPr lang="en-US" sz="1800" dirty="0"/>
              <a:t>Train and evaluate models on benchmark datasets.</a:t>
            </a:r>
          </a:p>
          <a:p>
            <a:pPr>
              <a:buFont typeface="Arial" panose="020B0604020202020204" pitchFamily="34" charset="0"/>
              <a:buChar char="•"/>
            </a:pPr>
            <a:r>
              <a:rPr lang="en-US" sz="1800" dirty="0"/>
              <a:t>Provide visualization and reporting tools to help administrators monitor network anomalies.</a:t>
            </a:r>
          </a:p>
          <a:p>
            <a:pPr>
              <a:buFont typeface="Arial" panose="020B0604020202020204" pitchFamily="34" charset="0"/>
              <a:buChar char="•"/>
            </a:pPr>
            <a:r>
              <a:rPr lang="en-US" sz="1800" dirty="0"/>
              <a:t>Ensure the system is scalable, adaptable, and capable of handling large volumes of network data in real-time environments.</a:t>
            </a:r>
          </a:p>
          <a:p>
            <a:pPr marL="114300" indent="0">
              <a:buNone/>
            </a:pPr>
            <a:endParaRPr lang="en-US" sz="1800" dirty="0"/>
          </a:p>
          <a:p>
            <a:pPr marL="228600" lvl="0" indent="-50800" algn="l" rtl="0">
              <a:lnSpc>
                <a:spcPct val="90000"/>
              </a:lnSpc>
              <a:spcBef>
                <a:spcPts val="0"/>
              </a:spcBef>
              <a:spcAft>
                <a:spcPts val="0"/>
              </a:spcAft>
              <a:buClr>
                <a:schemeClr val="dk1"/>
              </a:buClr>
              <a:buSzPts val="2800"/>
              <a:buNone/>
            </a:pPr>
            <a:endParaRPr dirty="0"/>
          </a:p>
        </p:txBody>
      </p:sp>
      <p:grpSp>
        <p:nvGrpSpPr>
          <p:cNvPr id="184" name="Google Shape;184;p20"/>
          <p:cNvGrpSpPr/>
          <p:nvPr/>
        </p:nvGrpSpPr>
        <p:grpSpPr>
          <a:xfrm>
            <a:off x="15033" y="223935"/>
            <a:ext cx="12176967" cy="6630358"/>
            <a:chOff x="0" y="118871"/>
            <a:chExt cx="9144000" cy="4978908"/>
          </a:xfrm>
        </p:grpSpPr>
        <p:pic>
          <p:nvPicPr>
            <p:cNvPr id="185" name="Google Shape;185;p20"/>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86" name="Google Shape;186;p20"/>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187" name="Google Shape;187;p20"/>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188" name="Google Shape;188;p20"/>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189" name="Google Shape;189;p20"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190" name="Google Shape;190;p20"/>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191" name="Google Shape;191;p20"/>
          <p:cNvSpPr txBox="1"/>
          <p:nvPr/>
        </p:nvSpPr>
        <p:spPr>
          <a:xfrm>
            <a:off x="1492826" y="250443"/>
            <a:ext cx="9206345" cy="508473"/>
          </a:xfrm>
          <a:prstGeom prst="rect">
            <a:avLst/>
          </a:prstGeom>
          <a:noFill/>
          <a:ln>
            <a:noFill/>
          </a:ln>
        </p:spPr>
        <p:txBody>
          <a:bodyPr spcFirstLastPara="1" wrap="square" lIns="0" tIns="15875" rIns="0" bIns="0" anchor="t" anchorCtr="0">
            <a:spAutoFit/>
          </a:bodyPr>
          <a:lstStyle/>
          <a:p>
            <a:pPr marL="12700" marR="0" lvl="0" indent="0" algn="ctr" rtl="0">
              <a:spcBef>
                <a:spcPts val="0"/>
              </a:spcBef>
              <a:spcAft>
                <a:spcPts val="0"/>
              </a:spcAft>
              <a:buNone/>
            </a:pPr>
            <a:r>
              <a:rPr lang="en-US" sz="3200" b="1" i="0">
                <a:solidFill>
                  <a:srgbClr val="365F92"/>
                </a:solidFill>
                <a:latin typeface="Cambria"/>
                <a:ea typeface="Cambria"/>
                <a:cs typeface="Cambria"/>
                <a:sym typeface="Cambria"/>
              </a:rPr>
              <a:t>OBJECTIVE &amp; SCOPE OF THE PROJECT</a:t>
            </a:r>
            <a:endParaRPr sz="3150" b="1" i="0" u="none" strike="noStrike" cap="none">
              <a:solidFill>
                <a:srgbClr val="365F92"/>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a:buNone/>
            </a:pPr>
            <a:r>
              <a:rPr lang="en-US" sz="1800" b="1" dirty="0"/>
              <a:t>Hardware Requirements</a:t>
            </a:r>
          </a:p>
          <a:p>
            <a:pPr>
              <a:buFont typeface="Arial" panose="020B0604020202020204" pitchFamily="34" charset="0"/>
              <a:buChar char="•"/>
            </a:pPr>
            <a:r>
              <a:rPr lang="en-US" sz="1800" dirty="0"/>
              <a:t>Processor: Intel i5 or higher</a:t>
            </a:r>
          </a:p>
          <a:p>
            <a:pPr>
              <a:buFont typeface="Arial" panose="020B0604020202020204" pitchFamily="34" charset="0"/>
              <a:buChar char="•"/>
            </a:pPr>
            <a:r>
              <a:rPr lang="en-US" sz="1800" dirty="0"/>
              <a:t>RAM: 8 GB (16 GB recommended)</a:t>
            </a:r>
          </a:p>
          <a:p>
            <a:pPr>
              <a:buFont typeface="Arial" panose="020B0604020202020204" pitchFamily="34" charset="0"/>
              <a:buChar char="•"/>
            </a:pPr>
            <a:r>
              <a:rPr lang="en-US" sz="1800" dirty="0"/>
              <a:t>Storage: 100 GB free space</a:t>
            </a:r>
          </a:p>
          <a:p>
            <a:pPr>
              <a:buNone/>
            </a:pPr>
            <a:r>
              <a:rPr lang="en-IN" sz="1800" b="1" dirty="0"/>
              <a:t>Software Requirements</a:t>
            </a:r>
          </a:p>
          <a:p>
            <a:pPr>
              <a:buFont typeface="Arial" panose="020B0604020202020204" pitchFamily="34" charset="0"/>
              <a:buChar char="•"/>
            </a:pPr>
            <a:r>
              <a:rPr lang="en-IN" sz="1800" dirty="0"/>
              <a:t>OS: Windows 10/11 or Ubuntu 20.04+</a:t>
            </a:r>
          </a:p>
          <a:p>
            <a:pPr>
              <a:buFont typeface="Arial" panose="020B0604020202020204" pitchFamily="34" charset="0"/>
              <a:buChar char="•"/>
            </a:pPr>
            <a:r>
              <a:rPr lang="en-IN" sz="1800" dirty="0"/>
              <a:t>Python with Scikit-learn, Pandas, NumPy, Matplotlib, </a:t>
            </a:r>
            <a:r>
              <a:rPr lang="en-IN" sz="1800" dirty="0" err="1"/>
              <a:t>Scapy</a:t>
            </a:r>
            <a:endParaRPr lang="en-IN" sz="1800" dirty="0"/>
          </a:p>
          <a:p>
            <a:pPr>
              <a:buFont typeface="Arial" panose="020B0604020202020204" pitchFamily="34" charset="0"/>
              <a:buChar char="•"/>
            </a:pPr>
            <a:r>
              <a:rPr lang="en-IN" sz="1800" dirty="0"/>
              <a:t>Tools: </a:t>
            </a:r>
            <a:r>
              <a:rPr lang="en-IN" sz="1800" dirty="0" err="1"/>
              <a:t>Jupyter</a:t>
            </a:r>
            <a:r>
              <a:rPr lang="en-IN" sz="1800" dirty="0"/>
              <a:t> Notebook / Google </a:t>
            </a:r>
            <a:r>
              <a:rPr lang="en-IN" sz="1800" dirty="0" err="1"/>
              <a:t>Colab</a:t>
            </a:r>
            <a:r>
              <a:rPr lang="en-IN" sz="1800" dirty="0"/>
              <a:t>, Wireshark</a:t>
            </a:r>
          </a:p>
          <a:p>
            <a:pPr marL="114300" indent="0">
              <a:buNone/>
            </a:pPr>
            <a:endParaRPr lang="en-IN" sz="1800" b="1" dirty="0"/>
          </a:p>
        </p:txBody>
      </p:sp>
      <p:grpSp>
        <p:nvGrpSpPr>
          <p:cNvPr id="197" name="Google Shape;197;p21"/>
          <p:cNvGrpSpPr/>
          <p:nvPr/>
        </p:nvGrpSpPr>
        <p:grpSpPr>
          <a:xfrm>
            <a:off x="15033" y="223935"/>
            <a:ext cx="12176967" cy="6630358"/>
            <a:chOff x="0" y="118871"/>
            <a:chExt cx="9144000" cy="4978908"/>
          </a:xfrm>
        </p:grpSpPr>
        <p:pic>
          <p:nvPicPr>
            <p:cNvPr id="198" name="Google Shape;198;p21"/>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199" name="Google Shape;199;p21"/>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00" name="Google Shape;200;p21"/>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01" name="Google Shape;201;p21"/>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02" name="Google Shape;202;p21"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203" name="Google Shape;203;p21"/>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204" name="Google Shape;204;p21"/>
          <p:cNvSpPr txBox="1"/>
          <p:nvPr/>
        </p:nvSpPr>
        <p:spPr>
          <a:xfrm>
            <a:off x="1500343" y="232899"/>
            <a:ext cx="9206345" cy="508473"/>
          </a:xfrm>
          <a:prstGeom prst="rect">
            <a:avLst/>
          </a:prstGeom>
          <a:noFill/>
          <a:ln>
            <a:noFill/>
          </a:ln>
        </p:spPr>
        <p:txBody>
          <a:bodyPr spcFirstLastPara="1" wrap="square" lIns="0" tIns="15875" rIns="0" bIns="0" anchor="t" anchorCtr="0">
            <a:spAutoFit/>
          </a:bodyPr>
          <a:lstStyle/>
          <a:p>
            <a:pPr marL="232409" marR="0" lvl="0" indent="0" algn="l" rtl="0">
              <a:spcBef>
                <a:spcPts val="0"/>
              </a:spcBef>
              <a:spcAft>
                <a:spcPts val="0"/>
              </a:spcAft>
              <a:buNone/>
            </a:pPr>
            <a:r>
              <a:rPr lang="en-US" sz="3200" b="1" i="0">
                <a:solidFill>
                  <a:srgbClr val="2E75B5"/>
                </a:solidFill>
                <a:latin typeface="Calibri"/>
                <a:ea typeface="Calibri"/>
                <a:cs typeface="Calibri"/>
                <a:sym typeface="Calibri"/>
              </a:rPr>
              <a:t>HARDWARE &amp; SOFTWARE REQUIREMENT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a:buFont typeface="Arial" panose="020B0604020202020204" pitchFamily="34" charset="0"/>
              <a:buChar char="•"/>
            </a:pPr>
            <a:r>
              <a:rPr lang="en-US" sz="2200" b="1" dirty="0"/>
              <a:t>Signature-based Systems</a:t>
            </a:r>
            <a:r>
              <a:rPr lang="en-US" sz="2200" dirty="0"/>
              <a:t>: Primarily detect known attacks but fail to recognize new, unknown threats.</a:t>
            </a:r>
          </a:p>
          <a:p>
            <a:pPr>
              <a:buFont typeface="Arial" panose="020B0604020202020204" pitchFamily="34" charset="0"/>
              <a:buChar char="•"/>
            </a:pPr>
            <a:r>
              <a:rPr lang="en-US" sz="2200" b="1" dirty="0"/>
              <a:t>High False Positives</a:t>
            </a:r>
            <a:r>
              <a:rPr lang="en-US" sz="2200" dirty="0"/>
              <a:t>: Traditional IDS often generate numerous false alarms, reducing reliability.</a:t>
            </a:r>
          </a:p>
          <a:p>
            <a:pPr>
              <a:buFont typeface="Arial" panose="020B0604020202020204" pitchFamily="34" charset="0"/>
              <a:buChar char="•"/>
            </a:pPr>
            <a:r>
              <a:rPr lang="en-US" sz="2200" b="1" dirty="0"/>
              <a:t>Manual Updates</a:t>
            </a:r>
            <a:r>
              <a:rPr lang="en-US" sz="2200" dirty="0"/>
              <a:t>: Signature-based systems require constant manual updates to remain effective.</a:t>
            </a:r>
          </a:p>
          <a:p>
            <a:pPr>
              <a:buFont typeface="Arial" panose="020B0604020202020204" pitchFamily="34" charset="0"/>
              <a:buChar char="•"/>
            </a:pPr>
            <a:r>
              <a:rPr lang="en-US" sz="2200" b="1" dirty="0"/>
              <a:t>Limited Scalability</a:t>
            </a:r>
            <a:r>
              <a:rPr lang="en-US" sz="2200" dirty="0"/>
              <a:t>: Existing systems often struggle to scale with large amounts of network data.</a:t>
            </a:r>
          </a:p>
          <a:p>
            <a:pPr>
              <a:buFont typeface="Arial" panose="020B0604020202020204" pitchFamily="34" charset="0"/>
              <a:buChar char="•"/>
            </a:pPr>
            <a:r>
              <a:rPr lang="en-US" sz="2200" b="1" dirty="0"/>
              <a:t>Real-time Detection Issues</a:t>
            </a:r>
            <a:r>
              <a:rPr lang="en-US" sz="2200" dirty="0"/>
              <a:t>: Many systems are unable to perform real-time analysis effectively.</a:t>
            </a:r>
          </a:p>
          <a:p>
            <a:pPr>
              <a:buFont typeface="Arial" panose="020B0604020202020204" pitchFamily="34" charset="0"/>
              <a:buChar char="•"/>
            </a:pPr>
            <a:r>
              <a:rPr lang="en-US" sz="2200" b="1" dirty="0"/>
              <a:t>Anomaly-based Systems</a:t>
            </a:r>
            <a:r>
              <a:rPr lang="en-US" sz="2200" dirty="0"/>
              <a:t>: While they detect unknown attacks, they face challenges like high dimensionality and imbalanced datasets.</a:t>
            </a:r>
          </a:p>
          <a:p>
            <a:pPr>
              <a:buFont typeface="Arial" panose="020B0604020202020204" pitchFamily="34" charset="0"/>
              <a:buChar char="•"/>
            </a:pPr>
            <a:r>
              <a:rPr lang="en-US" sz="2200" b="1" dirty="0"/>
              <a:t>Machine Learning Limitations</a:t>
            </a:r>
            <a:r>
              <a:rPr lang="en-US" sz="2200" dirty="0"/>
              <a:t>: Although machine learning-based IDS have been proposed, they often lack scalability and real-time adaptability.</a:t>
            </a:r>
          </a:p>
          <a:p>
            <a:pPr marL="228600" lvl="0" indent="-50800" algn="l" rtl="0">
              <a:lnSpc>
                <a:spcPct val="90000"/>
              </a:lnSpc>
              <a:spcBef>
                <a:spcPts val="0"/>
              </a:spcBef>
              <a:spcAft>
                <a:spcPts val="0"/>
              </a:spcAft>
              <a:buClr>
                <a:schemeClr val="dk1"/>
              </a:buClr>
              <a:buSzPts val="2800"/>
              <a:buNone/>
            </a:pPr>
            <a:endParaRPr dirty="0"/>
          </a:p>
        </p:txBody>
      </p:sp>
      <p:grpSp>
        <p:nvGrpSpPr>
          <p:cNvPr id="210" name="Google Shape;210;p22"/>
          <p:cNvGrpSpPr/>
          <p:nvPr/>
        </p:nvGrpSpPr>
        <p:grpSpPr>
          <a:xfrm>
            <a:off x="15033" y="223935"/>
            <a:ext cx="12176967" cy="6630358"/>
            <a:chOff x="0" y="118871"/>
            <a:chExt cx="9144000" cy="4978908"/>
          </a:xfrm>
        </p:grpSpPr>
        <p:pic>
          <p:nvPicPr>
            <p:cNvPr id="211" name="Google Shape;211;p22"/>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212" name="Google Shape;212;p22"/>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13" name="Google Shape;213;p22"/>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14" name="Google Shape;214;p22"/>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15" name="Google Shape;215;p22"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216" name="Google Shape;216;p22"/>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217" name="Google Shape;217;p22"/>
          <p:cNvSpPr txBox="1"/>
          <p:nvPr/>
        </p:nvSpPr>
        <p:spPr>
          <a:xfrm>
            <a:off x="685799" y="212725"/>
            <a:ext cx="9206345" cy="508473"/>
          </a:xfrm>
          <a:prstGeom prst="rect">
            <a:avLst/>
          </a:prstGeom>
          <a:noFill/>
          <a:ln>
            <a:noFill/>
          </a:ln>
        </p:spPr>
        <p:txBody>
          <a:bodyPr spcFirstLastPara="1" wrap="square" lIns="0" tIns="15875" rIns="0" bIns="0" anchor="t" anchorCtr="0">
            <a:spAutoFit/>
          </a:bodyPr>
          <a:lstStyle/>
          <a:p>
            <a:pPr marL="232409" marR="0" lvl="0" indent="0" algn="ctr" rtl="0">
              <a:spcBef>
                <a:spcPts val="0"/>
              </a:spcBef>
              <a:spcAft>
                <a:spcPts val="0"/>
              </a:spcAft>
              <a:buNone/>
            </a:pPr>
            <a:r>
              <a:rPr lang="en-US" sz="3200" b="1" i="0">
                <a:solidFill>
                  <a:srgbClr val="365F92"/>
                </a:solidFill>
                <a:latin typeface="Cambria"/>
                <a:ea typeface="Cambria"/>
                <a:cs typeface="Cambria"/>
                <a:sym typeface="Cambria"/>
              </a:rPr>
              <a:t>SYSTEM DESIGN</a:t>
            </a:r>
            <a:endParaRPr sz="3200" b="1" i="0">
              <a:solidFill>
                <a:srgbClr val="2E75B5"/>
              </a:solidFill>
              <a:latin typeface="Calibri"/>
              <a:ea typeface="Calibri"/>
              <a:cs typeface="Calibri"/>
              <a:sym typeface="Calibri"/>
            </a:endParaRPr>
          </a:p>
        </p:txBody>
      </p:sp>
      <p:sp>
        <p:nvSpPr>
          <p:cNvPr id="218" name="Google Shape;218;p22"/>
          <p:cNvSpPr txBox="1"/>
          <p:nvPr/>
        </p:nvSpPr>
        <p:spPr>
          <a:xfrm>
            <a:off x="838200" y="1300365"/>
            <a:ext cx="425334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Existing System</a:t>
            </a:r>
            <a:endParaRPr sz="2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grpSp>
        <p:nvGrpSpPr>
          <p:cNvPr id="224" name="Google Shape;224;p23"/>
          <p:cNvGrpSpPr/>
          <p:nvPr/>
        </p:nvGrpSpPr>
        <p:grpSpPr>
          <a:xfrm>
            <a:off x="15033" y="223935"/>
            <a:ext cx="12176967" cy="6630358"/>
            <a:chOff x="0" y="118871"/>
            <a:chExt cx="9144000" cy="4978908"/>
          </a:xfrm>
        </p:grpSpPr>
        <p:pic>
          <p:nvPicPr>
            <p:cNvPr id="225" name="Google Shape;225;p23"/>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226" name="Google Shape;226;p23"/>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27" name="Google Shape;227;p23"/>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28" name="Google Shape;228;p23"/>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29" name="Google Shape;229;p23"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230" name="Google Shape;230;p23"/>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231" name="Google Shape;231;p23"/>
          <p:cNvSpPr txBox="1"/>
          <p:nvPr/>
        </p:nvSpPr>
        <p:spPr>
          <a:xfrm>
            <a:off x="685799" y="212725"/>
            <a:ext cx="9206345" cy="508473"/>
          </a:xfrm>
          <a:prstGeom prst="rect">
            <a:avLst/>
          </a:prstGeom>
          <a:noFill/>
          <a:ln>
            <a:noFill/>
          </a:ln>
        </p:spPr>
        <p:txBody>
          <a:bodyPr spcFirstLastPara="1" wrap="square" lIns="0" tIns="15875" rIns="0" bIns="0" anchor="t" anchorCtr="0">
            <a:spAutoFit/>
          </a:bodyPr>
          <a:lstStyle/>
          <a:p>
            <a:pPr marL="232409" marR="0" lvl="0" indent="0" algn="ctr" rtl="0">
              <a:spcBef>
                <a:spcPts val="0"/>
              </a:spcBef>
              <a:spcAft>
                <a:spcPts val="0"/>
              </a:spcAft>
              <a:buNone/>
            </a:pPr>
            <a:r>
              <a:rPr lang="en-US" sz="3200" b="1" i="0">
                <a:solidFill>
                  <a:srgbClr val="365F92"/>
                </a:solidFill>
                <a:latin typeface="Cambria"/>
                <a:ea typeface="Cambria"/>
                <a:cs typeface="Cambria"/>
                <a:sym typeface="Cambria"/>
              </a:rPr>
              <a:t>SYSTEM DESIGN</a:t>
            </a:r>
            <a:endParaRPr sz="3200" b="1" i="0">
              <a:solidFill>
                <a:srgbClr val="2E75B5"/>
              </a:solidFill>
              <a:latin typeface="Calibri"/>
              <a:ea typeface="Calibri"/>
              <a:cs typeface="Calibri"/>
              <a:sym typeface="Calibri"/>
            </a:endParaRPr>
          </a:p>
        </p:txBody>
      </p:sp>
      <p:sp>
        <p:nvSpPr>
          <p:cNvPr id="232" name="Google Shape;232;p23"/>
          <p:cNvSpPr txBox="1"/>
          <p:nvPr/>
        </p:nvSpPr>
        <p:spPr>
          <a:xfrm>
            <a:off x="838200" y="1300365"/>
            <a:ext cx="425334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Proposed System</a:t>
            </a:r>
            <a:endParaRPr/>
          </a:p>
        </p:txBody>
      </p:sp>
      <p:sp>
        <p:nvSpPr>
          <p:cNvPr id="3" name="Text Placeholder 2">
            <a:extLst>
              <a:ext uri="{FF2B5EF4-FFF2-40B4-BE49-F238E27FC236}">
                <a16:creationId xmlns:a16="http://schemas.microsoft.com/office/drawing/2014/main" id="{33424AF7-CD4A-6FC1-98FF-0A24DA877DBE}"/>
              </a:ext>
            </a:extLst>
          </p:cNvPr>
          <p:cNvSpPr>
            <a:spLocks noGrp="1" noChangeArrowheads="1"/>
          </p:cNvSpPr>
          <p:nvPr>
            <p:ph type="body" idx="1"/>
          </p:nvPr>
        </p:nvSpPr>
        <p:spPr bwMode="auto">
          <a:xfrm>
            <a:off x="838200" y="2108467"/>
            <a:ext cx="972229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Machine Learning-based Approach</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Utilizes algorithms like Isolation Forest detect both known and unknown intrusions.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Anomaly Detection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Focuses on identifying deviations from normal network behavior, enhancing the detection of novel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Preprocessing</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Employs techniques such as feature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Scalability</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Designed to scale effectively with large datasets, ensuring it can handle high volumes of network traffic in real-time.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Real-time Detection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Capable of identifying threats in near real-time, enabling prompt response to potential intrusions.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Evaluation on Benchmark Datasets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Tested using standard datasets like NSL-KDD and CICIDS2017 to validate model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Visualization and Reporting</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Provides clear visualizations (e.g., scatter plot) and reports for administrators to monitor network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Future Enhancement Potential</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Designed with flexibility for future integration of advanced techniques like deep learning and online learning.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grpSp>
        <p:nvGrpSpPr>
          <p:cNvPr id="238" name="Google Shape;238;p24"/>
          <p:cNvGrpSpPr/>
          <p:nvPr/>
        </p:nvGrpSpPr>
        <p:grpSpPr>
          <a:xfrm>
            <a:off x="15033" y="223935"/>
            <a:ext cx="12176967" cy="6630358"/>
            <a:chOff x="0" y="118871"/>
            <a:chExt cx="9144000" cy="4978908"/>
          </a:xfrm>
        </p:grpSpPr>
        <p:pic>
          <p:nvPicPr>
            <p:cNvPr id="239" name="Google Shape;239;p24"/>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240" name="Google Shape;240;p24"/>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41" name="Google Shape;241;p24"/>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42" name="Google Shape;242;p24"/>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43" name="Google Shape;243;p24"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244" name="Google Shape;244;p24"/>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245" name="Google Shape;245;p24"/>
          <p:cNvSpPr txBox="1"/>
          <p:nvPr/>
        </p:nvSpPr>
        <p:spPr>
          <a:xfrm>
            <a:off x="685799" y="212725"/>
            <a:ext cx="9206345" cy="508473"/>
          </a:xfrm>
          <a:prstGeom prst="rect">
            <a:avLst/>
          </a:prstGeom>
          <a:noFill/>
          <a:ln>
            <a:noFill/>
          </a:ln>
        </p:spPr>
        <p:txBody>
          <a:bodyPr spcFirstLastPara="1" wrap="square" lIns="0" tIns="15875" rIns="0" bIns="0" anchor="t" anchorCtr="0">
            <a:spAutoFit/>
          </a:bodyPr>
          <a:lstStyle/>
          <a:p>
            <a:pPr marL="232409" marR="0" lvl="0" indent="0" algn="ctr" rtl="0">
              <a:spcBef>
                <a:spcPts val="0"/>
              </a:spcBef>
              <a:spcAft>
                <a:spcPts val="0"/>
              </a:spcAft>
              <a:buNone/>
            </a:pPr>
            <a:r>
              <a:rPr lang="en-US" sz="3200" b="1" i="0">
                <a:solidFill>
                  <a:srgbClr val="365F92"/>
                </a:solidFill>
                <a:latin typeface="Cambria"/>
                <a:ea typeface="Cambria"/>
                <a:cs typeface="Cambria"/>
                <a:sym typeface="Cambria"/>
              </a:rPr>
              <a:t>SYSTEM DESIGN</a:t>
            </a:r>
            <a:endParaRPr sz="3200" b="1" i="0">
              <a:solidFill>
                <a:srgbClr val="2E75B5"/>
              </a:solidFill>
              <a:latin typeface="Calibri"/>
              <a:ea typeface="Calibri"/>
              <a:cs typeface="Calibri"/>
              <a:sym typeface="Calibri"/>
            </a:endParaRPr>
          </a:p>
        </p:txBody>
      </p:sp>
      <p:sp>
        <p:nvSpPr>
          <p:cNvPr id="246" name="Google Shape;246;p24"/>
          <p:cNvSpPr txBox="1"/>
          <p:nvPr/>
        </p:nvSpPr>
        <p:spPr>
          <a:xfrm>
            <a:off x="838200" y="1300365"/>
            <a:ext cx="425334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Technology Used</a:t>
            </a:r>
            <a:endParaRPr/>
          </a:p>
        </p:txBody>
      </p:sp>
      <p:sp>
        <p:nvSpPr>
          <p:cNvPr id="5" name="Text Placeholder 4">
            <a:extLst>
              <a:ext uri="{FF2B5EF4-FFF2-40B4-BE49-F238E27FC236}">
                <a16:creationId xmlns:a16="http://schemas.microsoft.com/office/drawing/2014/main" id="{EA5ACD45-4B34-AA54-505B-F1B7EB83597C}"/>
              </a:ext>
            </a:extLst>
          </p:cNvPr>
          <p:cNvSpPr>
            <a:spLocks noGrp="1" noChangeArrowheads="1"/>
          </p:cNvSpPr>
          <p:nvPr>
            <p:ph type="body" idx="1"/>
          </p:nvPr>
        </p:nvSpPr>
        <p:spPr bwMode="auto">
          <a:xfrm>
            <a:off x="767408" y="1908677"/>
            <a:ext cx="581120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Python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Primary language for implementation.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Scikit-learn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Machine learning models (Isolation Forest).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Pandas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Data manipulation and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NumPy</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Numerical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Matplotlib/Seaborn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Data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 Wireshark: </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Datasets for evaluation.</a:t>
            </a:r>
            <a:endPar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Jupyter</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Notebook/Google </a:t>
            </a:r>
            <a:r>
              <a:rPr kumimoji="0" lang="en-US" altLang="en-US" sz="18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Colab</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Interactive development</a:t>
            </a:r>
          </a:p>
        </p:txBody>
      </p:sp>
      <p:pic>
        <p:nvPicPr>
          <p:cNvPr id="7" name="Picture 6">
            <a:extLst>
              <a:ext uri="{FF2B5EF4-FFF2-40B4-BE49-F238E27FC236}">
                <a16:creationId xmlns:a16="http://schemas.microsoft.com/office/drawing/2014/main" id="{E597C285-549D-13D1-A4FD-93829DA25902}"/>
              </a:ext>
            </a:extLst>
          </p:cNvPr>
          <p:cNvPicPr>
            <a:picLocks noChangeAspect="1"/>
          </p:cNvPicPr>
          <p:nvPr/>
        </p:nvPicPr>
        <p:blipFill>
          <a:blip r:embed="rId6"/>
          <a:stretch>
            <a:fillRect/>
          </a:stretch>
        </p:blipFill>
        <p:spPr>
          <a:xfrm>
            <a:off x="1271464" y="4090686"/>
            <a:ext cx="9544050" cy="1714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grpSp>
        <p:nvGrpSpPr>
          <p:cNvPr id="252" name="Google Shape;252;p25"/>
          <p:cNvGrpSpPr/>
          <p:nvPr/>
        </p:nvGrpSpPr>
        <p:grpSpPr>
          <a:xfrm>
            <a:off x="15033" y="223935"/>
            <a:ext cx="12176967" cy="6630358"/>
            <a:chOff x="0" y="118871"/>
            <a:chExt cx="9144000" cy="4978908"/>
          </a:xfrm>
        </p:grpSpPr>
        <p:pic>
          <p:nvPicPr>
            <p:cNvPr id="253" name="Google Shape;253;p25"/>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254" name="Google Shape;254;p25"/>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55" name="Google Shape;255;p25"/>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56" name="Google Shape;256;p25"/>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57" name="Google Shape;257;p25"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258" name="Google Shape;258;p25"/>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259" name="Google Shape;259;p25"/>
          <p:cNvSpPr txBox="1"/>
          <p:nvPr/>
        </p:nvSpPr>
        <p:spPr>
          <a:xfrm>
            <a:off x="1621195" y="271036"/>
            <a:ext cx="9206345" cy="508473"/>
          </a:xfrm>
          <a:prstGeom prst="rect">
            <a:avLst/>
          </a:prstGeom>
          <a:noFill/>
          <a:ln>
            <a:noFill/>
          </a:ln>
        </p:spPr>
        <p:txBody>
          <a:bodyPr spcFirstLastPara="1" wrap="square" lIns="0" tIns="15875" rIns="0" bIns="0" anchor="t" anchorCtr="0">
            <a:spAutoFit/>
          </a:bodyPr>
          <a:lstStyle/>
          <a:p>
            <a:pPr marL="0" marR="0" lvl="0" indent="0" algn="ctr" rtl="0">
              <a:spcBef>
                <a:spcPts val="0"/>
              </a:spcBef>
              <a:spcAft>
                <a:spcPts val="0"/>
              </a:spcAft>
              <a:buNone/>
            </a:pPr>
            <a:r>
              <a:rPr lang="en-US" sz="3200" b="1" i="0">
                <a:solidFill>
                  <a:srgbClr val="2E75B5"/>
                </a:solidFill>
                <a:latin typeface="Cambria"/>
                <a:ea typeface="Cambria"/>
                <a:cs typeface="Cambria"/>
                <a:sym typeface="Cambria"/>
              </a:rPr>
              <a:t>SYSTEM ARCHITECTURE</a:t>
            </a:r>
            <a:endParaRPr/>
          </a:p>
        </p:txBody>
      </p:sp>
      <p:pic>
        <p:nvPicPr>
          <p:cNvPr id="7" name="Picture 6">
            <a:extLst>
              <a:ext uri="{FF2B5EF4-FFF2-40B4-BE49-F238E27FC236}">
                <a16:creationId xmlns:a16="http://schemas.microsoft.com/office/drawing/2014/main" id="{861423C1-B451-7FD3-46E6-E12D39ABC6D7}"/>
              </a:ext>
            </a:extLst>
          </p:cNvPr>
          <p:cNvPicPr>
            <a:picLocks noChangeAspect="1"/>
          </p:cNvPicPr>
          <p:nvPr/>
        </p:nvPicPr>
        <p:blipFill>
          <a:blip r:embed="rId6"/>
          <a:stretch>
            <a:fillRect/>
          </a:stretch>
        </p:blipFill>
        <p:spPr>
          <a:xfrm>
            <a:off x="2176242" y="1841524"/>
            <a:ext cx="8096250" cy="34671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pSp>
        <p:nvGrpSpPr>
          <p:cNvPr id="266" name="Google Shape;266;p26"/>
          <p:cNvGrpSpPr/>
          <p:nvPr/>
        </p:nvGrpSpPr>
        <p:grpSpPr>
          <a:xfrm>
            <a:off x="15033" y="223935"/>
            <a:ext cx="12176967" cy="6630358"/>
            <a:chOff x="0" y="118871"/>
            <a:chExt cx="9144000" cy="4978908"/>
          </a:xfrm>
        </p:grpSpPr>
        <p:pic>
          <p:nvPicPr>
            <p:cNvPr id="267" name="Google Shape;267;p26"/>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268" name="Google Shape;268;p26"/>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69" name="Google Shape;269;p26"/>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70" name="Google Shape;270;p26"/>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71" name="Google Shape;271;p26"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272" name="Google Shape;272;p26"/>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273" name="Google Shape;273;p26"/>
          <p:cNvSpPr txBox="1"/>
          <p:nvPr/>
        </p:nvSpPr>
        <p:spPr>
          <a:xfrm>
            <a:off x="1500343" y="249016"/>
            <a:ext cx="9206345" cy="508473"/>
          </a:xfrm>
          <a:prstGeom prst="rect">
            <a:avLst/>
          </a:prstGeom>
          <a:noFill/>
          <a:ln>
            <a:noFill/>
          </a:ln>
        </p:spPr>
        <p:txBody>
          <a:bodyPr spcFirstLastPara="1" wrap="square" lIns="0" tIns="15875" rIns="0" bIns="0" anchor="t" anchorCtr="0">
            <a:spAutoFit/>
          </a:bodyPr>
          <a:lstStyle/>
          <a:p>
            <a:pPr marL="0" marR="0" lvl="0" indent="0" algn="ctr" rtl="0">
              <a:spcBef>
                <a:spcPts val="0"/>
              </a:spcBef>
              <a:spcAft>
                <a:spcPts val="0"/>
              </a:spcAft>
              <a:buNone/>
            </a:pPr>
            <a:r>
              <a:rPr lang="en-US" sz="3200" b="1" i="0">
                <a:solidFill>
                  <a:srgbClr val="2E75B5"/>
                </a:solidFill>
                <a:latin typeface="Cambria"/>
                <a:ea typeface="Cambria"/>
                <a:cs typeface="Cambria"/>
                <a:sym typeface="Cambria"/>
              </a:rPr>
              <a:t>WORKING MODEL</a:t>
            </a:r>
            <a:endParaRPr/>
          </a:p>
        </p:txBody>
      </p:sp>
      <p:pic>
        <p:nvPicPr>
          <p:cNvPr id="3" name="Picture 2">
            <a:extLst>
              <a:ext uri="{FF2B5EF4-FFF2-40B4-BE49-F238E27FC236}">
                <a16:creationId xmlns:a16="http://schemas.microsoft.com/office/drawing/2014/main" id="{DFBDCFCA-7AC3-7AA5-F05F-772638083F3D}"/>
              </a:ext>
            </a:extLst>
          </p:cNvPr>
          <p:cNvPicPr>
            <a:picLocks noChangeAspect="1"/>
          </p:cNvPicPr>
          <p:nvPr/>
        </p:nvPicPr>
        <p:blipFill>
          <a:blip r:embed="rId6"/>
          <a:stretch>
            <a:fillRect/>
          </a:stretch>
        </p:blipFill>
        <p:spPr>
          <a:xfrm>
            <a:off x="1271464" y="1333537"/>
            <a:ext cx="4150221" cy="2278880"/>
          </a:xfrm>
          <a:prstGeom prst="rect">
            <a:avLst/>
          </a:prstGeom>
        </p:spPr>
      </p:pic>
      <p:pic>
        <p:nvPicPr>
          <p:cNvPr id="5" name="Picture 4">
            <a:extLst>
              <a:ext uri="{FF2B5EF4-FFF2-40B4-BE49-F238E27FC236}">
                <a16:creationId xmlns:a16="http://schemas.microsoft.com/office/drawing/2014/main" id="{87D1270D-FAF8-CA98-3E8E-1BC48D1A0B09}"/>
              </a:ext>
            </a:extLst>
          </p:cNvPr>
          <p:cNvPicPr>
            <a:picLocks noChangeAspect="1"/>
          </p:cNvPicPr>
          <p:nvPr/>
        </p:nvPicPr>
        <p:blipFill>
          <a:blip r:embed="rId7"/>
          <a:stretch>
            <a:fillRect/>
          </a:stretch>
        </p:blipFill>
        <p:spPr>
          <a:xfrm>
            <a:off x="6556467" y="1268760"/>
            <a:ext cx="4150221" cy="2376264"/>
          </a:xfrm>
          <a:prstGeom prst="rect">
            <a:avLst/>
          </a:prstGeom>
        </p:spPr>
      </p:pic>
      <p:pic>
        <p:nvPicPr>
          <p:cNvPr id="7" name="Picture 6">
            <a:extLst>
              <a:ext uri="{FF2B5EF4-FFF2-40B4-BE49-F238E27FC236}">
                <a16:creationId xmlns:a16="http://schemas.microsoft.com/office/drawing/2014/main" id="{84C4D2B7-CB95-D6CD-73B4-909FC5359926}"/>
              </a:ext>
            </a:extLst>
          </p:cNvPr>
          <p:cNvPicPr>
            <a:picLocks noChangeAspect="1"/>
          </p:cNvPicPr>
          <p:nvPr/>
        </p:nvPicPr>
        <p:blipFill>
          <a:blip r:embed="rId8"/>
          <a:stretch>
            <a:fillRect/>
          </a:stretch>
        </p:blipFill>
        <p:spPr>
          <a:xfrm>
            <a:off x="3575720" y="4149080"/>
            <a:ext cx="4791075" cy="838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grpSp>
        <p:nvGrpSpPr>
          <p:cNvPr id="280" name="Google Shape;280;p27"/>
          <p:cNvGrpSpPr/>
          <p:nvPr/>
        </p:nvGrpSpPr>
        <p:grpSpPr>
          <a:xfrm>
            <a:off x="15033" y="223935"/>
            <a:ext cx="12176967" cy="6630358"/>
            <a:chOff x="0" y="118871"/>
            <a:chExt cx="9144000" cy="4978908"/>
          </a:xfrm>
        </p:grpSpPr>
        <p:pic>
          <p:nvPicPr>
            <p:cNvPr id="281" name="Google Shape;281;p27"/>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282" name="Google Shape;282;p27"/>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83" name="Google Shape;283;p27"/>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84" name="Google Shape;284;p27"/>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85" name="Google Shape;285;p27"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286" name="Google Shape;286;p27"/>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287" name="Google Shape;287;p27"/>
          <p:cNvSpPr txBox="1"/>
          <p:nvPr/>
        </p:nvSpPr>
        <p:spPr>
          <a:xfrm>
            <a:off x="1500343" y="232899"/>
            <a:ext cx="9206345" cy="508473"/>
          </a:xfrm>
          <a:prstGeom prst="rect">
            <a:avLst/>
          </a:prstGeom>
          <a:noFill/>
          <a:ln>
            <a:noFill/>
          </a:ln>
        </p:spPr>
        <p:txBody>
          <a:bodyPr spcFirstLastPara="1" wrap="square" lIns="0" tIns="15875" rIns="0" bIns="0" anchor="t" anchorCtr="0">
            <a:spAutoFit/>
          </a:bodyPr>
          <a:lstStyle/>
          <a:p>
            <a:pPr marL="0" marR="0" lvl="0" indent="0" algn="ctr" rtl="0">
              <a:spcBef>
                <a:spcPts val="0"/>
              </a:spcBef>
              <a:spcAft>
                <a:spcPts val="0"/>
              </a:spcAft>
              <a:buNone/>
            </a:pPr>
            <a:r>
              <a:rPr lang="en-US" sz="3200" b="1" i="0">
                <a:solidFill>
                  <a:srgbClr val="2E75B5"/>
                </a:solidFill>
                <a:latin typeface="Cambria"/>
                <a:ea typeface="Cambria"/>
                <a:cs typeface="Cambria"/>
                <a:sym typeface="Cambria"/>
              </a:rPr>
              <a:t>RESULTS</a:t>
            </a:r>
            <a:endParaRPr/>
          </a:p>
        </p:txBody>
      </p:sp>
      <p:pic>
        <p:nvPicPr>
          <p:cNvPr id="5" name="Picture 4">
            <a:extLst>
              <a:ext uri="{FF2B5EF4-FFF2-40B4-BE49-F238E27FC236}">
                <a16:creationId xmlns:a16="http://schemas.microsoft.com/office/drawing/2014/main" id="{4EBA885F-0E75-659B-E9B6-744D1A73B221}"/>
              </a:ext>
            </a:extLst>
          </p:cNvPr>
          <p:cNvPicPr>
            <a:picLocks noChangeAspect="1"/>
          </p:cNvPicPr>
          <p:nvPr/>
        </p:nvPicPr>
        <p:blipFill>
          <a:blip r:embed="rId6"/>
          <a:stretch>
            <a:fillRect/>
          </a:stretch>
        </p:blipFill>
        <p:spPr>
          <a:xfrm>
            <a:off x="839416" y="1532114"/>
            <a:ext cx="5328592" cy="2760982"/>
          </a:xfrm>
          <a:prstGeom prst="rect">
            <a:avLst/>
          </a:prstGeom>
        </p:spPr>
      </p:pic>
      <p:pic>
        <p:nvPicPr>
          <p:cNvPr id="7" name="Picture 6">
            <a:extLst>
              <a:ext uri="{FF2B5EF4-FFF2-40B4-BE49-F238E27FC236}">
                <a16:creationId xmlns:a16="http://schemas.microsoft.com/office/drawing/2014/main" id="{FDB4F0C6-F136-3125-8198-35AF54BE0844}"/>
              </a:ext>
            </a:extLst>
          </p:cNvPr>
          <p:cNvPicPr>
            <a:picLocks noChangeAspect="1"/>
          </p:cNvPicPr>
          <p:nvPr/>
        </p:nvPicPr>
        <p:blipFill>
          <a:blip r:embed="rId7"/>
          <a:stretch>
            <a:fillRect/>
          </a:stretch>
        </p:blipFill>
        <p:spPr>
          <a:xfrm>
            <a:off x="6023992" y="1585772"/>
            <a:ext cx="5433542" cy="2653666"/>
          </a:xfrm>
          <a:prstGeom prst="rect">
            <a:avLst/>
          </a:prstGeom>
        </p:spPr>
      </p:pic>
      <p:sp>
        <p:nvSpPr>
          <p:cNvPr id="2" name="TextBox 1">
            <a:extLst>
              <a:ext uri="{FF2B5EF4-FFF2-40B4-BE49-F238E27FC236}">
                <a16:creationId xmlns:a16="http://schemas.microsoft.com/office/drawing/2014/main" id="{88FA7F61-9BFC-BC5D-B801-B5F509333BD2}"/>
              </a:ext>
            </a:extLst>
          </p:cNvPr>
          <p:cNvSpPr txBox="1"/>
          <p:nvPr/>
        </p:nvSpPr>
        <p:spPr>
          <a:xfrm>
            <a:off x="2334848" y="4372996"/>
            <a:ext cx="2304256" cy="307777"/>
          </a:xfrm>
          <a:prstGeom prst="rect">
            <a:avLst/>
          </a:prstGeom>
          <a:noFill/>
        </p:spPr>
        <p:txBody>
          <a:bodyPr wrap="square" rtlCol="0">
            <a:spAutoFit/>
          </a:bodyPr>
          <a:lstStyle/>
          <a:p>
            <a:r>
              <a:rPr lang="en-IN" dirty="0"/>
              <a:t>No attack in network</a:t>
            </a:r>
          </a:p>
        </p:txBody>
      </p:sp>
      <p:sp>
        <p:nvSpPr>
          <p:cNvPr id="3" name="TextBox 2">
            <a:extLst>
              <a:ext uri="{FF2B5EF4-FFF2-40B4-BE49-F238E27FC236}">
                <a16:creationId xmlns:a16="http://schemas.microsoft.com/office/drawing/2014/main" id="{DE4EACE8-8FBB-451C-3774-39E7DB5B9419}"/>
              </a:ext>
            </a:extLst>
          </p:cNvPr>
          <p:cNvSpPr txBox="1"/>
          <p:nvPr/>
        </p:nvSpPr>
        <p:spPr>
          <a:xfrm>
            <a:off x="8040216" y="4293096"/>
            <a:ext cx="1800200" cy="307777"/>
          </a:xfrm>
          <a:prstGeom prst="rect">
            <a:avLst/>
          </a:prstGeom>
          <a:noFill/>
        </p:spPr>
        <p:txBody>
          <a:bodyPr wrap="square" rtlCol="0">
            <a:spAutoFit/>
          </a:bodyPr>
          <a:lstStyle/>
          <a:p>
            <a:r>
              <a:rPr lang="en-IN" dirty="0"/>
              <a:t>DDOS attack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grpSp>
        <p:nvGrpSpPr>
          <p:cNvPr id="294" name="Google Shape;294;p28"/>
          <p:cNvGrpSpPr/>
          <p:nvPr/>
        </p:nvGrpSpPr>
        <p:grpSpPr>
          <a:xfrm>
            <a:off x="15033" y="223935"/>
            <a:ext cx="12176967" cy="6630358"/>
            <a:chOff x="0" y="118871"/>
            <a:chExt cx="9144000" cy="4978908"/>
          </a:xfrm>
        </p:grpSpPr>
        <p:pic>
          <p:nvPicPr>
            <p:cNvPr id="295" name="Google Shape;295;p28"/>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296" name="Google Shape;296;p28"/>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297" name="Google Shape;297;p28"/>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298" name="Google Shape;298;p28"/>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299" name="Google Shape;299;p28"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300" name="Google Shape;300;p28"/>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301" name="Google Shape;301;p28"/>
          <p:cNvSpPr txBox="1"/>
          <p:nvPr/>
        </p:nvSpPr>
        <p:spPr>
          <a:xfrm>
            <a:off x="1577963" y="297534"/>
            <a:ext cx="9206345" cy="1000915"/>
          </a:xfrm>
          <a:prstGeom prst="rect">
            <a:avLst/>
          </a:prstGeom>
          <a:noFill/>
          <a:ln>
            <a:noFill/>
          </a:ln>
        </p:spPr>
        <p:txBody>
          <a:bodyPr spcFirstLastPara="1" wrap="square" lIns="0" tIns="15875" rIns="0" bIns="0" anchor="t" anchorCtr="0">
            <a:spAutoFit/>
          </a:bodyPr>
          <a:lstStyle/>
          <a:p>
            <a:pPr marL="0" marR="0" lvl="0" indent="0" algn="ctr" rtl="0">
              <a:spcBef>
                <a:spcPts val="0"/>
              </a:spcBef>
              <a:spcAft>
                <a:spcPts val="0"/>
              </a:spcAft>
              <a:buNone/>
            </a:pPr>
            <a:r>
              <a:rPr lang="en-US" sz="3200" b="1" i="0">
                <a:solidFill>
                  <a:srgbClr val="2E75B5"/>
                </a:solidFill>
                <a:latin typeface="Cambria"/>
                <a:ea typeface="Cambria"/>
                <a:cs typeface="Cambria"/>
                <a:sym typeface="Cambria"/>
              </a:rPr>
              <a:t>COMPARATIVE ANALYSIS</a:t>
            </a:r>
            <a:endParaRPr/>
          </a:p>
          <a:p>
            <a:pPr marL="0" marR="0" lvl="0" indent="0" algn="ctr" rtl="0">
              <a:spcBef>
                <a:spcPts val="0"/>
              </a:spcBef>
              <a:spcAft>
                <a:spcPts val="0"/>
              </a:spcAft>
              <a:buNone/>
            </a:pPr>
            <a:endParaRPr sz="3200" b="1" i="0">
              <a:solidFill>
                <a:srgbClr val="2E75B5"/>
              </a:solidFill>
              <a:latin typeface="Cambria"/>
              <a:ea typeface="Cambria"/>
              <a:cs typeface="Cambria"/>
              <a:sym typeface="Cambria"/>
            </a:endParaRPr>
          </a:p>
        </p:txBody>
      </p:sp>
      <p:sp>
        <p:nvSpPr>
          <p:cNvPr id="6" name="Rectangle 4">
            <a:extLst>
              <a:ext uri="{FF2B5EF4-FFF2-40B4-BE49-F238E27FC236}">
                <a16:creationId xmlns:a16="http://schemas.microsoft.com/office/drawing/2014/main" id="{59533A74-644B-A269-1AEE-3E65FBFF58F6}"/>
              </a:ext>
            </a:extLst>
          </p:cNvPr>
          <p:cNvSpPr>
            <a:spLocks noGrp="1" noChangeArrowheads="1"/>
          </p:cNvSpPr>
          <p:nvPr>
            <p:ph type="body" idx="1"/>
          </p:nvPr>
        </p:nvSpPr>
        <p:spPr bwMode="auto">
          <a:xfrm>
            <a:off x="838200" y="2119690"/>
            <a:ext cx="862768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Detection Capabilities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Traditional</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Detects only known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Proposed</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Detects both known and unknown threats (machine learning-based).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Accuracy and Adaptability</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Traditional</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High false positives, manual updates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Proposed</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Reduced false positives, self-learning, adapts to new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Scalability and Real-time Detection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Traditional</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Struggles with large data and real-time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Proposed</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Scales well, provides real-time analysis and alerts.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grpSp>
        <p:nvGrpSpPr>
          <p:cNvPr id="307" name="Google Shape;307;p29"/>
          <p:cNvGrpSpPr/>
          <p:nvPr/>
        </p:nvGrpSpPr>
        <p:grpSpPr>
          <a:xfrm>
            <a:off x="15033" y="223935"/>
            <a:ext cx="12176967" cy="6630358"/>
            <a:chOff x="0" y="118871"/>
            <a:chExt cx="9144000" cy="4978908"/>
          </a:xfrm>
        </p:grpSpPr>
        <p:pic>
          <p:nvPicPr>
            <p:cNvPr id="308" name="Google Shape;308;p29"/>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309" name="Google Shape;309;p29"/>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310" name="Google Shape;310;p29"/>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311" name="Google Shape;311;p29"/>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312" name="Google Shape;312;p29"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313" name="Google Shape;313;p29"/>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314" name="Google Shape;314;p29"/>
          <p:cNvSpPr txBox="1"/>
          <p:nvPr/>
        </p:nvSpPr>
        <p:spPr>
          <a:xfrm>
            <a:off x="1621195" y="240052"/>
            <a:ext cx="9206345" cy="1062470"/>
          </a:xfrm>
          <a:prstGeom prst="rect">
            <a:avLst/>
          </a:prstGeom>
          <a:noFill/>
          <a:ln>
            <a:noFill/>
          </a:ln>
        </p:spPr>
        <p:txBody>
          <a:bodyPr spcFirstLastPara="1" wrap="square" lIns="0" tIns="15875" rIns="0" bIns="0" anchor="t" anchorCtr="0">
            <a:spAutoFit/>
          </a:bodyPr>
          <a:lstStyle/>
          <a:p>
            <a:pPr marL="0" marR="0" lvl="0" indent="0" algn="ctr" rtl="0">
              <a:spcBef>
                <a:spcPts val="0"/>
              </a:spcBef>
              <a:spcAft>
                <a:spcPts val="0"/>
              </a:spcAft>
              <a:buNone/>
            </a:pPr>
            <a:r>
              <a:rPr lang="en-US" sz="3200" b="1" i="0">
                <a:solidFill>
                  <a:srgbClr val="2E75B5"/>
                </a:solidFill>
                <a:latin typeface="Cambria"/>
                <a:ea typeface="Cambria"/>
                <a:cs typeface="Cambria"/>
                <a:sym typeface="Cambria"/>
              </a:rPr>
              <a:t>PROJECT</a:t>
            </a:r>
            <a:r>
              <a:rPr lang="en-US" sz="3600" b="1" i="0">
                <a:solidFill>
                  <a:srgbClr val="365F92"/>
                </a:solidFill>
                <a:latin typeface="Cambria"/>
                <a:ea typeface="Cambria"/>
                <a:cs typeface="Cambria"/>
                <a:sym typeface="Cambria"/>
              </a:rPr>
              <a:t> </a:t>
            </a:r>
            <a:r>
              <a:rPr lang="en-US" sz="3200" b="1" i="0">
                <a:solidFill>
                  <a:srgbClr val="2E75B5"/>
                </a:solidFill>
                <a:latin typeface="Cambria"/>
                <a:ea typeface="Cambria"/>
                <a:cs typeface="Cambria"/>
                <a:sym typeface="Cambria"/>
              </a:rPr>
              <a:t>STATUS</a:t>
            </a:r>
            <a:endParaRPr/>
          </a:p>
          <a:p>
            <a:pPr marL="0" marR="0" lvl="0" indent="0" algn="ctr" rtl="0">
              <a:spcBef>
                <a:spcPts val="0"/>
              </a:spcBef>
              <a:spcAft>
                <a:spcPts val="0"/>
              </a:spcAft>
              <a:buNone/>
            </a:pPr>
            <a:endParaRPr sz="3200" b="1" i="0">
              <a:solidFill>
                <a:srgbClr val="2E75B5"/>
              </a:solidFill>
              <a:latin typeface="Cambria"/>
              <a:ea typeface="Cambria"/>
              <a:cs typeface="Cambria"/>
              <a:sym typeface="Cambria"/>
            </a:endParaRPr>
          </a:p>
        </p:txBody>
      </p:sp>
      <p:graphicFrame>
        <p:nvGraphicFramePr>
          <p:cNvPr id="316" name="Google Shape;316;p29"/>
          <p:cNvGraphicFramePr/>
          <p:nvPr>
            <p:extLst>
              <p:ext uri="{D42A27DB-BD31-4B8C-83A1-F6EECF244321}">
                <p14:modId xmlns:p14="http://schemas.microsoft.com/office/powerpoint/2010/main" val="2473812359"/>
              </p:ext>
            </p:extLst>
          </p:nvPr>
        </p:nvGraphicFramePr>
        <p:xfrm>
          <a:off x="1472045" y="2813916"/>
          <a:ext cx="9168225" cy="2595950"/>
        </p:xfrm>
        <a:graphic>
          <a:graphicData uri="http://schemas.openxmlformats.org/drawingml/2006/table">
            <a:tbl>
              <a:tblPr firstRow="1" bandRow="1">
                <a:noFill/>
                <a:tableStyleId>{B6E76623-1142-4C01-8EDB-15418C692EB7}</a:tableStyleId>
              </a:tblPr>
              <a:tblGrid>
                <a:gridCol w="3056075">
                  <a:extLst>
                    <a:ext uri="{9D8B030D-6E8A-4147-A177-3AD203B41FA5}">
                      <a16:colId xmlns:a16="http://schemas.microsoft.com/office/drawing/2014/main" val="20000"/>
                    </a:ext>
                  </a:extLst>
                </a:gridCol>
                <a:gridCol w="3056075">
                  <a:extLst>
                    <a:ext uri="{9D8B030D-6E8A-4147-A177-3AD203B41FA5}">
                      <a16:colId xmlns:a16="http://schemas.microsoft.com/office/drawing/2014/main" val="20001"/>
                    </a:ext>
                  </a:extLst>
                </a:gridCol>
                <a:gridCol w="30560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NATURE OF WORK</a:t>
                      </a:r>
                      <a:endParaRPr sz="1800"/>
                    </a:p>
                  </a:txBody>
                  <a:tcPr marL="91450" marR="91450" marT="45725" marB="45725"/>
                </a:tc>
                <a:tc>
                  <a:txBody>
                    <a:bodyPr/>
                    <a:lstStyle/>
                    <a:p>
                      <a:pPr marL="0" marR="0" lvl="0" indent="0" algn="l" rtl="0">
                        <a:spcBef>
                          <a:spcPts val="0"/>
                        </a:spcBef>
                        <a:spcAft>
                          <a:spcPts val="0"/>
                        </a:spcAft>
                        <a:buNone/>
                      </a:pPr>
                      <a:r>
                        <a:rPr lang="en-US" sz="1800" dirty="0"/>
                        <a:t> TIME SPAN</a:t>
                      </a:r>
                      <a:endParaRPr sz="1800" dirty="0"/>
                    </a:p>
                  </a:txBody>
                  <a:tcPr marL="91450" marR="91450" marT="45725" marB="45725"/>
                </a:tc>
                <a:tc>
                  <a:txBody>
                    <a:bodyPr/>
                    <a:lstStyle/>
                    <a:p>
                      <a:pPr marL="0" marR="0" lvl="0" indent="0" algn="l" rtl="0">
                        <a:spcBef>
                          <a:spcPts val="0"/>
                        </a:spcBef>
                        <a:spcAft>
                          <a:spcPts val="0"/>
                        </a:spcAft>
                        <a:buNone/>
                      </a:pPr>
                      <a:r>
                        <a:rPr lang="en-US" sz="1800"/>
                        <a:t>STATUS OF COMPLETION</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Title Selection</a:t>
                      </a:r>
                      <a:endParaRPr sz="1800"/>
                    </a:p>
                  </a:txBody>
                  <a:tcPr marL="91450" marR="91450" marT="45725" marB="45725"/>
                </a:tc>
                <a:tc>
                  <a:txBody>
                    <a:bodyPr/>
                    <a:lstStyle/>
                    <a:p>
                      <a:pPr marL="0" marR="0" lvl="0" indent="0" algn="l" rtl="0">
                        <a:spcBef>
                          <a:spcPts val="0"/>
                        </a:spcBef>
                        <a:spcAft>
                          <a:spcPts val="0"/>
                        </a:spcAft>
                        <a:buNone/>
                      </a:pPr>
                      <a:r>
                        <a:rPr lang="en-US" sz="1800" dirty="0"/>
                        <a:t>25-02-2025</a:t>
                      </a:r>
                      <a:endParaRPr sz="1800" dirty="0"/>
                    </a:p>
                  </a:txBody>
                  <a:tcPr marL="91450" marR="91450" marT="45725" marB="45725"/>
                </a:tc>
                <a:tc>
                  <a:txBody>
                    <a:bodyPr/>
                    <a:lstStyle/>
                    <a:p>
                      <a:pPr marL="0" marR="0" lvl="0" indent="0" algn="l" rtl="0">
                        <a:spcBef>
                          <a:spcPts val="0"/>
                        </a:spcBef>
                        <a:spcAft>
                          <a:spcPts val="0"/>
                        </a:spcAft>
                        <a:buNone/>
                      </a:pPr>
                      <a:r>
                        <a:rPr lang="en-US" sz="1800" dirty="0"/>
                        <a:t>Completed</a:t>
                      </a:r>
                      <a:endParaRPr sz="180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Literature Review</a:t>
                      </a:r>
                      <a:endParaRPr sz="1800"/>
                    </a:p>
                  </a:txBody>
                  <a:tcPr marL="91450" marR="91450" marT="45725" marB="45725"/>
                </a:tc>
                <a:tc>
                  <a:txBody>
                    <a:bodyPr/>
                    <a:lstStyle/>
                    <a:p>
                      <a:pPr marL="0" marR="0" lvl="0" indent="0" algn="l" rtl="0">
                        <a:spcBef>
                          <a:spcPts val="0"/>
                        </a:spcBef>
                        <a:spcAft>
                          <a:spcPts val="0"/>
                        </a:spcAft>
                        <a:buNone/>
                      </a:pPr>
                      <a:r>
                        <a:rPr lang="en-US" sz="1800" dirty="0"/>
                        <a:t>01-03-2025</a:t>
                      </a:r>
                      <a:endParaRPr sz="1800" dirty="0"/>
                    </a:p>
                  </a:txBody>
                  <a:tcPr marL="91450" marR="91450" marT="45725" marB="45725"/>
                </a:tc>
                <a:tc>
                  <a:txBody>
                    <a:bodyPr/>
                    <a:lstStyle/>
                    <a:p>
                      <a:pPr marL="0" marR="0" lvl="0" indent="0" algn="l" rtl="0">
                        <a:spcBef>
                          <a:spcPts val="0"/>
                        </a:spcBef>
                        <a:spcAft>
                          <a:spcPts val="0"/>
                        </a:spcAft>
                        <a:buNone/>
                      </a:pPr>
                      <a:r>
                        <a:rPr lang="en-US" sz="1800" dirty="0"/>
                        <a:t>Completed</a:t>
                      </a:r>
                      <a:endParaRPr sz="180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System Design</a:t>
                      </a:r>
                      <a:endParaRPr sz="1800"/>
                    </a:p>
                  </a:txBody>
                  <a:tcPr marL="91450" marR="91450" marT="45725" marB="45725"/>
                </a:tc>
                <a:tc>
                  <a:txBody>
                    <a:bodyPr/>
                    <a:lstStyle/>
                    <a:p>
                      <a:pPr marL="0" marR="0" lvl="0" indent="0" algn="l" rtl="0">
                        <a:spcBef>
                          <a:spcPts val="0"/>
                        </a:spcBef>
                        <a:spcAft>
                          <a:spcPts val="0"/>
                        </a:spcAft>
                        <a:buNone/>
                      </a:pPr>
                      <a:r>
                        <a:rPr lang="en-US" sz="1800" dirty="0"/>
                        <a:t>25-04-2025</a:t>
                      </a:r>
                      <a:endParaRPr sz="1800" dirty="0"/>
                    </a:p>
                  </a:txBody>
                  <a:tcPr marL="91450" marR="91450" marT="45725" marB="45725"/>
                </a:tc>
                <a:tc>
                  <a:txBody>
                    <a:bodyPr/>
                    <a:lstStyle/>
                    <a:p>
                      <a:pPr marL="0" marR="0" lvl="0" indent="0" algn="l" rtl="0">
                        <a:spcBef>
                          <a:spcPts val="0"/>
                        </a:spcBef>
                        <a:spcAft>
                          <a:spcPts val="0"/>
                        </a:spcAft>
                        <a:buNone/>
                      </a:pPr>
                      <a:r>
                        <a:rPr lang="en-US" sz="1800" dirty="0"/>
                        <a:t>Completed</a:t>
                      </a:r>
                      <a:endParaRPr sz="1800" dirty="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Simulation Results</a:t>
                      </a:r>
                      <a:endParaRPr sz="1800"/>
                    </a:p>
                  </a:txBody>
                  <a:tcPr marL="91450" marR="91450" marT="45725" marB="45725"/>
                </a:tc>
                <a:tc>
                  <a:txBody>
                    <a:bodyPr/>
                    <a:lstStyle/>
                    <a:p>
                      <a:pPr marL="0" marR="0" lvl="0" indent="0" algn="l" rtl="0">
                        <a:spcBef>
                          <a:spcPts val="0"/>
                        </a:spcBef>
                        <a:spcAft>
                          <a:spcPts val="0"/>
                        </a:spcAft>
                        <a:buNone/>
                      </a:pPr>
                      <a:r>
                        <a:rPr lang="en-US" sz="1800" dirty="0"/>
                        <a:t>28-04-2025</a:t>
                      </a:r>
                      <a:endParaRPr sz="1800" dirty="0"/>
                    </a:p>
                  </a:txBody>
                  <a:tcPr marL="91450" marR="91450" marT="45725" marB="45725"/>
                </a:tc>
                <a:tc>
                  <a:txBody>
                    <a:bodyPr/>
                    <a:lstStyle/>
                    <a:p>
                      <a:pPr marL="0" marR="0" lvl="0" indent="0" algn="l" rtl="0">
                        <a:spcBef>
                          <a:spcPts val="0"/>
                        </a:spcBef>
                        <a:spcAft>
                          <a:spcPts val="0"/>
                        </a:spcAft>
                        <a:buNone/>
                      </a:pPr>
                      <a:r>
                        <a:rPr lang="en-US" sz="1800" dirty="0"/>
                        <a:t>Completed</a:t>
                      </a:r>
                      <a:endParaRPr sz="1800" dirty="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Comparative Analysis</a:t>
                      </a:r>
                      <a:endParaRPr sz="1800"/>
                    </a:p>
                  </a:txBody>
                  <a:tcPr marL="91450" marR="91450" marT="45725" marB="45725"/>
                </a:tc>
                <a:tc>
                  <a:txBody>
                    <a:bodyPr/>
                    <a:lstStyle/>
                    <a:p>
                      <a:pPr marL="0" marR="0" lvl="0" indent="0" algn="l" rtl="0">
                        <a:spcBef>
                          <a:spcPts val="0"/>
                        </a:spcBef>
                        <a:spcAft>
                          <a:spcPts val="0"/>
                        </a:spcAft>
                        <a:buNone/>
                      </a:pPr>
                      <a:r>
                        <a:rPr lang="en-US" sz="1800" dirty="0"/>
                        <a:t>02-05-2025</a:t>
                      </a:r>
                      <a:endParaRPr sz="1800" dirty="0"/>
                    </a:p>
                  </a:txBody>
                  <a:tcPr marL="91450" marR="91450" marT="45725" marB="45725"/>
                </a:tc>
                <a:tc>
                  <a:txBody>
                    <a:bodyPr/>
                    <a:lstStyle/>
                    <a:p>
                      <a:pPr marL="0" marR="0" lvl="0" indent="0" algn="l" rtl="0">
                        <a:spcBef>
                          <a:spcPts val="0"/>
                        </a:spcBef>
                        <a:spcAft>
                          <a:spcPts val="0"/>
                        </a:spcAft>
                        <a:buNone/>
                      </a:pPr>
                      <a:r>
                        <a:rPr lang="en-US" sz="1800" dirty="0"/>
                        <a:t>Completed</a:t>
                      </a:r>
                      <a:endParaRPr sz="1800" dirty="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Conclusion</a:t>
                      </a:r>
                      <a:endParaRPr sz="1800"/>
                    </a:p>
                  </a:txBody>
                  <a:tcPr marL="91450" marR="91450" marT="45725" marB="45725"/>
                </a:tc>
                <a:tc>
                  <a:txBody>
                    <a:bodyPr/>
                    <a:lstStyle/>
                    <a:p>
                      <a:pPr marL="0" marR="0" lvl="0" indent="0" algn="l" rtl="0">
                        <a:spcBef>
                          <a:spcPts val="0"/>
                        </a:spcBef>
                        <a:spcAft>
                          <a:spcPts val="0"/>
                        </a:spcAft>
                        <a:buNone/>
                      </a:pPr>
                      <a:r>
                        <a:rPr lang="en-US" sz="1800"/>
                        <a:t>05-05-2025</a:t>
                      </a:r>
                      <a:endParaRPr sz="1800"/>
                    </a:p>
                  </a:txBody>
                  <a:tcPr marL="91450" marR="91450" marT="45725" marB="45725"/>
                </a:tc>
                <a:tc>
                  <a:txBody>
                    <a:bodyPr/>
                    <a:lstStyle/>
                    <a:p>
                      <a:pPr marL="0" marR="0" lvl="0" indent="0" algn="l" rtl="0">
                        <a:spcBef>
                          <a:spcPts val="0"/>
                        </a:spcBef>
                        <a:spcAft>
                          <a:spcPts val="0"/>
                        </a:spcAft>
                        <a:buNone/>
                      </a:pPr>
                      <a:r>
                        <a:rPr lang="en-US" sz="1800" dirty="0"/>
                        <a:t>Completed</a:t>
                      </a:r>
                      <a:endParaRPr sz="1800" dirty="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grpSp>
        <p:nvGrpSpPr>
          <p:cNvPr id="321" name="Google Shape;321;p30"/>
          <p:cNvGrpSpPr/>
          <p:nvPr/>
        </p:nvGrpSpPr>
        <p:grpSpPr>
          <a:xfrm>
            <a:off x="15033" y="223935"/>
            <a:ext cx="12176967" cy="6630358"/>
            <a:chOff x="0" y="118871"/>
            <a:chExt cx="9144000" cy="4978908"/>
          </a:xfrm>
        </p:grpSpPr>
        <p:pic>
          <p:nvPicPr>
            <p:cNvPr id="322" name="Google Shape;322;p30"/>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323" name="Google Shape;323;p30"/>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324" name="Google Shape;324;p30"/>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325" name="Google Shape;325;p30"/>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326" name="Google Shape;326;p30"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327" name="Google Shape;327;p30"/>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328" name="Google Shape;328;p30"/>
          <p:cNvSpPr txBox="1"/>
          <p:nvPr/>
        </p:nvSpPr>
        <p:spPr>
          <a:xfrm>
            <a:off x="1492826" y="335917"/>
            <a:ext cx="9206345" cy="508473"/>
          </a:xfrm>
          <a:prstGeom prst="rect">
            <a:avLst/>
          </a:prstGeom>
          <a:noFill/>
          <a:ln>
            <a:noFill/>
          </a:ln>
        </p:spPr>
        <p:txBody>
          <a:bodyPr spcFirstLastPara="1" wrap="square" lIns="0" tIns="15875" rIns="0" bIns="0" anchor="t" anchorCtr="0">
            <a:spAutoFit/>
          </a:bodyPr>
          <a:lstStyle/>
          <a:p>
            <a:pPr marL="0" marR="0" lvl="0" indent="0" algn="ctr" rtl="0">
              <a:spcBef>
                <a:spcPts val="0"/>
              </a:spcBef>
              <a:spcAft>
                <a:spcPts val="0"/>
              </a:spcAft>
              <a:buNone/>
            </a:pPr>
            <a:r>
              <a:rPr lang="en-US" sz="3200" b="1" i="0">
                <a:solidFill>
                  <a:srgbClr val="365F92"/>
                </a:solidFill>
                <a:latin typeface="Cambria"/>
                <a:ea typeface="Cambria"/>
                <a:cs typeface="Cambria"/>
                <a:sym typeface="Cambria"/>
              </a:rPr>
              <a:t>REFERENCES</a:t>
            </a:r>
            <a:endParaRPr sz="3200" b="1" i="0">
              <a:solidFill>
                <a:srgbClr val="2E75B5"/>
              </a:solidFill>
              <a:latin typeface="Cambria"/>
              <a:ea typeface="Cambria"/>
              <a:cs typeface="Cambria"/>
              <a:sym typeface="Cambria"/>
            </a:endParaRPr>
          </a:p>
        </p:txBody>
      </p:sp>
      <p:sp>
        <p:nvSpPr>
          <p:cNvPr id="330" name="Google Shape;330;p30"/>
          <p:cNvSpPr/>
          <p:nvPr/>
        </p:nvSpPr>
        <p:spPr>
          <a:xfrm>
            <a:off x="934394" y="1268761"/>
            <a:ext cx="10917922" cy="4752528"/>
          </a:xfrm>
          <a:prstGeom prst="rect">
            <a:avLst/>
          </a:prstGeom>
          <a:noFill/>
          <a:ln>
            <a:noFill/>
          </a:ln>
        </p:spPr>
        <p:txBody>
          <a:bodyPr spcFirstLastPara="1" wrap="square" lIns="91425" tIns="45700" rIns="91425" bIns="45700" anchor="t" anchorCtr="0">
            <a:noAutofit/>
          </a:bodyPr>
          <a:lstStyle/>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[1] S. Garg, K. Kaur, G. </a:t>
            </a:r>
            <a:r>
              <a:rPr lang="en-US" dirty="0" err="1">
                <a:effectLst/>
                <a:latin typeface="Calibri" panose="020F0502020204030204" pitchFamily="34" charset="0"/>
                <a:ea typeface="Calibri" panose="020F0502020204030204" pitchFamily="34" charset="0"/>
                <a:cs typeface="Calibri" panose="020F0502020204030204" pitchFamily="34" charset="0"/>
              </a:rPr>
              <a:t>Kaddoum</a:t>
            </a:r>
            <a:r>
              <a:rPr lang="en-US" dirty="0">
                <a:effectLst/>
                <a:latin typeface="Calibri" panose="020F0502020204030204" pitchFamily="34" charset="0"/>
                <a:ea typeface="Calibri" panose="020F0502020204030204" pitchFamily="34" charset="0"/>
                <a:cs typeface="Calibri" panose="020F0502020204030204" pitchFamily="34" charset="0"/>
              </a:rPr>
              <a:t>, A. </a:t>
            </a:r>
            <a:r>
              <a:rPr lang="en-US" dirty="0" err="1">
                <a:effectLst/>
                <a:latin typeface="Calibri" panose="020F0502020204030204" pitchFamily="34" charset="0"/>
                <a:ea typeface="Calibri" panose="020F0502020204030204" pitchFamily="34" charset="0"/>
                <a:cs typeface="Calibri" panose="020F0502020204030204" pitchFamily="34" charset="0"/>
              </a:rPr>
              <a:t>Bradai</a:t>
            </a:r>
            <a:r>
              <a:rPr lang="en-US" dirty="0">
                <a:effectLst/>
                <a:latin typeface="Calibri" panose="020F0502020204030204" pitchFamily="34" charset="0"/>
                <a:ea typeface="Calibri" panose="020F0502020204030204" pitchFamily="34" charset="0"/>
                <a:cs typeface="Calibri" panose="020F0502020204030204" pitchFamily="34" charset="0"/>
              </a:rPr>
              <a:t>, M. </a:t>
            </a:r>
            <a:r>
              <a:rPr lang="en-US" dirty="0" err="1">
                <a:effectLst/>
                <a:latin typeface="Calibri" panose="020F0502020204030204" pitchFamily="34" charset="0"/>
                <a:ea typeface="Calibri" panose="020F0502020204030204" pitchFamily="34" charset="0"/>
                <a:cs typeface="Calibri" panose="020F0502020204030204" pitchFamily="34" charset="0"/>
              </a:rPr>
              <a:t>Aloqaily</a:t>
            </a:r>
            <a:r>
              <a:rPr lang="en-US" dirty="0">
                <a:effectLst/>
                <a:latin typeface="Calibri" panose="020F0502020204030204" pitchFamily="34" charset="0"/>
                <a:ea typeface="Calibri" panose="020F0502020204030204" pitchFamily="34" charset="0"/>
                <a:cs typeface="Calibri" panose="020F0502020204030204" pitchFamily="34" charset="0"/>
              </a:rPr>
              <a:t>, and M. </a:t>
            </a:r>
            <a:r>
              <a:rPr lang="en-US" dirty="0" err="1">
                <a:effectLst/>
                <a:latin typeface="Calibri" panose="020F0502020204030204" pitchFamily="34" charset="0"/>
                <a:ea typeface="Calibri" panose="020F0502020204030204" pitchFamily="34" charset="0"/>
                <a:cs typeface="Calibri" panose="020F0502020204030204" pitchFamily="34" charset="0"/>
              </a:rPr>
              <a:t>Guizani</a:t>
            </a:r>
            <a:r>
              <a:rPr lang="en-US" dirty="0">
                <a:effectLst/>
                <a:latin typeface="Calibri" panose="020F0502020204030204" pitchFamily="34" charset="0"/>
                <a:ea typeface="Calibri" panose="020F0502020204030204" pitchFamily="34" charset="0"/>
                <a:cs typeface="Calibri" panose="020F0502020204030204" pitchFamily="34" charset="0"/>
              </a:rPr>
              <a:t>, "Machine Learning in Network Anomaly Detection: A Survey," IEEE Communications Surveys &amp; Tutorials, vol. 23, no. 1, pp. 546-578, 2021. [Online]. Available: https://ieeexplore.ieee.org/document/9610045.</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[2] M. M. Rathore, S. Park, and J. H. Park, "Cloud Network Anomaly Detection Using Machine and Deep Learning Techniques," IEEE Access, vol. 11, pp. 34567-34580, 2023. [Online]. Available: https://ieeexplore.ieee.org/document/10504797.</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[3] A. </a:t>
            </a:r>
            <a:r>
              <a:rPr lang="en-US" dirty="0" err="1">
                <a:effectLst/>
                <a:latin typeface="Calibri" panose="020F0502020204030204" pitchFamily="34" charset="0"/>
                <a:ea typeface="Calibri" panose="020F0502020204030204" pitchFamily="34" charset="0"/>
                <a:cs typeface="Calibri" panose="020F0502020204030204" pitchFamily="34" charset="0"/>
              </a:rPr>
              <a:t>Lakhina</a:t>
            </a:r>
            <a:r>
              <a:rPr lang="en-US" dirty="0">
                <a:effectLst/>
                <a:latin typeface="Calibri" panose="020F0502020204030204" pitchFamily="34" charset="0"/>
                <a:ea typeface="Calibri" panose="020F0502020204030204" pitchFamily="34" charset="0"/>
                <a:cs typeface="Calibri" panose="020F0502020204030204" pitchFamily="34" charset="0"/>
              </a:rPr>
              <a:t>, M. </a:t>
            </a:r>
            <a:r>
              <a:rPr lang="en-US" dirty="0" err="1">
                <a:effectLst/>
                <a:latin typeface="Calibri" panose="020F0502020204030204" pitchFamily="34" charset="0"/>
                <a:ea typeface="Calibri" panose="020F0502020204030204" pitchFamily="34" charset="0"/>
                <a:cs typeface="Calibri" panose="020F0502020204030204" pitchFamily="34" charset="0"/>
              </a:rPr>
              <a:t>Crovella</a:t>
            </a:r>
            <a:r>
              <a:rPr lang="en-US" dirty="0">
                <a:effectLst/>
                <a:latin typeface="Calibri" panose="020F0502020204030204" pitchFamily="34" charset="0"/>
                <a:ea typeface="Calibri" panose="020F0502020204030204" pitchFamily="34" charset="0"/>
                <a:cs typeface="Calibri" panose="020F0502020204030204" pitchFamily="34" charset="0"/>
              </a:rPr>
              <a:t>, and C. Diot, "Network Anomaly Detection Utilizing Machine Learning Methods," in Proceedings of the IEEE International Conference on Computer Communications (INFOCOM), 2019, pp. 224-232. [Online]. Available: https://ieeexplore.ieee.org/document/10297059.</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[4] T. Z. Farooqi and F. A. Shah, "Real-Time Network Anomaly Detection System Using Machine Learning," in Proceedings of the IEEE Conference on Security and Privacy, 2021, pp. 176-182. [Online]. Available: https://ieeexplore.ieee.org/document/7149025.</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dirty="0">
                <a:effectLst/>
                <a:latin typeface="Calibri" panose="020F0502020204030204" pitchFamily="34" charset="0"/>
                <a:ea typeface="Calibri" panose="020F0502020204030204" pitchFamily="34" charset="0"/>
                <a:cs typeface="Calibri" panose="020F0502020204030204" pitchFamily="34" charset="0"/>
              </a:rPr>
              <a:t>[5] H. A. Mahmoud and R. E. Mahmoud, "Deep Learning for Network Anomalies Detection," in Proceedings of the IEEE International Conference on Cyber Security, 2020, pp. 54-62. [Online]. Available: https://ieeexplore.ieee.org/document/8614018.</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buNone/>
            </a:pPr>
            <a:r>
              <a:rPr lang="en-US" sz="1000" dirty="0">
                <a:effectLst/>
                <a:latin typeface="Calibri" panose="020F0502020204030204" pitchFamily="34" charset="0"/>
                <a:ea typeface="Calibri" panose="020F0502020204030204" pitchFamily="34" charset="0"/>
                <a:cs typeface="Calibri" panose="020F0502020204030204" pitchFamily="34" charset="0"/>
              </a:rPr>
              <a:t> </a:t>
            </a:r>
            <a:endParaRPr lang="en-IN" sz="1000" dirty="0">
              <a:effectLst/>
              <a:latin typeface="Calibri" panose="020F0502020204030204" pitchFamily="34" charset="0"/>
              <a:ea typeface="Calibri" panose="020F0502020204030204" pitchFamily="34" charset="0"/>
              <a:cs typeface="Calibri" panose="020F0502020204030204" pitchFamily="34" charset="0"/>
            </a:endParaRPr>
          </a:p>
          <a:p>
            <a:pPr>
              <a:lnSpc>
                <a:spcPct val="115000"/>
              </a:lnSpc>
              <a:spcAft>
                <a:spcPts val="1000"/>
              </a:spcAft>
            </a:pPr>
            <a:endParaRPr lang="en-IN" sz="10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rtl="0">
              <a:spcBef>
                <a:spcPts val="0"/>
              </a:spcBef>
              <a:spcAft>
                <a:spcPts val="0"/>
              </a:spcAft>
              <a:buClr>
                <a:schemeClr val="dk1"/>
              </a:buClr>
              <a:buSzPts val="1800"/>
              <a:buFont typeface="Calibri"/>
              <a:buNone/>
            </a:pPr>
            <a:endParaRPr sz="1800" dirty="0">
              <a:solidFill>
                <a:schemeClr val="dk1"/>
              </a:solidFill>
              <a:latin typeface="Arial"/>
              <a:ea typeface="Arial"/>
              <a:cs typeface="Arial"/>
              <a:sym typeface="Arial"/>
            </a:endParaRPr>
          </a:p>
          <a:p>
            <a:pPr marL="0" marR="0" lvl="0" indent="0" algn="just" rtl="0">
              <a:spcBef>
                <a:spcPts val="0"/>
              </a:spcBef>
              <a:spcAft>
                <a:spcPts val="0"/>
              </a:spcAft>
              <a:buNone/>
            </a:pPr>
            <a:endParaRPr sz="1800" dirty="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pSp>
        <p:nvGrpSpPr>
          <p:cNvPr id="335" name="Google Shape;335;p31"/>
          <p:cNvGrpSpPr/>
          <p:nvPr/>
        </p:nvGrpSpPr>
        <p:grpSpPr>
          <a:xfrm>
            <a:off x="15033" y="223935"/>
            <a:ext cx="12176967" cy="6630358"/>
            <a:chOff x="0" y="118871"/>
            <a:chExt cx="9144000" cy="4978908"/>
          </a:xfrm>
        </p:grpSpPr>
        <p:pic>
          <p:nvPicPr>
            <p:cNvPr id="336" name="Google Shape;336;p31"/>
            <p:cNvPicPr preferRelativeResize="0"/>
            <p:nvPr/>
          </p:nvPicPr>
          <p:blipFill rotWithShape="1">
            <a:blip r:embed="rId3">
              <a:alphaModFix/>
            </a:blip>
            <a:srcRect/>
            <a:stretch/>
          </p:blipFill>
          <p:spPr>
            <a:xfrm>
              <a:off x="0" y="712660"/>
              <a:ext cx="9144000" cy="97440"/>
            </a:xfrm>
            <a:prstGeom prst="rect">
              <a:avLst/>
            </a:prstGeom>
            <a:noFill/>
            <a:ln>
              <a:noFill/>
            </a:ln>
          </p:spPr>
        </p:pic>
        <p:sp>
          <p:nvSpPr>
            <p:cNvPr id="337" name="Google Shape;337;p31"/>
            <p:cNvSpPr/>
            <p:nvPr/>
          </p:nvSpPr>
          <p:spPr>
            <a:xfrm>
              <a:off x="0" y="741298"/>
              <a:ext cx="9144000" cy="0"/>
            </a:xfrm>
            <a:custGeom>
              <a:avLst/>
              <a:gdLst/>
              <a:ahLst/>
              <a:cxnLst/>
              <a:rect l="l" t="t" r="r" b="b"/>
              <a:pathLst>
                <a:path w="9144000" h="120000" extrusionOk="0">
                  <a:moveTo>
                    <a:pt x="0" y="0"/>
                  </a:moveTo>
                  <a:lnTo>
                    <a:pt x="9144000" y="0"/>
                  </a:lnTo>
                </a:path>
              </a:pathLst>
            </a:custGeom>
            <a:noFill/>
            <a:ln w="38125" cap="flat" cmpd="sng">
              <a:solidFill>
                <a:srgbClr val="4F81B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pic>
          <p:nvPicPr>
            <p:cNvPr id="338" name="Google Shape;338;p31"/>
            <p:cNvPicPr preferRelativeResize="0"/>
            <p:nvPr/>
          </p:nvPicPr>
          <p:blipFill rotWithShape="1">
            <a:blip r:embed="rId4">
              <a:alphaModFix/>
            </a:blip>
            <a:srcRect/>
            <a:stretch/>
          </p:blipFill>
          <p:spPr>
            <a:xfrm>
              <a:off x="274320" y="118871"/>
              <a:ext cx="141732" cy="4978908"/>
            </a:xfrm>
            <a:prstGeom prst="rect">
              <a:avLst/>
            </a:prstGeom>
            <a:noFill/>
            <a:ln>
              <a:noFill/>
            </a:ln>
          </p:spPr>
        </p:pic>
        <p:sp>
          <p:nvSpPr>
            <p:cNvPr id="339" name="Google Shape;339;p31"/>
            <p:cNvSpPr/>
            <p:nvPr/>
          </p:nvSpPr>
          <p:spPr>
            <a:xfrm>
              <a:off x="347472" y="146430"/>
              <a:ext cx="0" cy="4862195"/>
            </a:xfrm>
            <a:custGeom>
              <a:avLst/>
              <a:gdLst/>
              <a:ahLst/>
              <a:cxnLst/>
              <a:rect l="l" t="t" r="r" b="b"/>
              <a:pathLst>
                <a:path w="120000" h="4862195" extrusionOk="0">
                  <a:moveTo>
                    <a:pt x="0" y="0"/>
                  </a:moveTo>
                  <a:lnTo>
                    <a:pt x="0" y="4862068"/>
                  </a:lnTo>
                </a:path>
              </a:pathLst>
            </a:custGeom>
            <a:noFill/>
            <a:ln w="38125"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397">
                <a:solidFill>
                  <a:schemeClr val="dk1"/>
                </a:solidFill>
                <a:latin typeface="Calibri"/>
                <a:ea typeface="Calibri"/>
                <a:cs typeface="Calibri"/>
                <a:sym typeface="Calibri"/>
              </a:endParaRPr>
            </a:p>
          </p:txBody>
        </p:sp>
      </p:grpSp>
      <p:pic>
        <p:nvPicPr>
          <p:cNvPr id="340" name="Google Shape;340;p31" descr="https://lh7-us.googleusercontent.com/7ridFL7yczpWVCpPt4tsvP1mrI2juajd_SUhdJlST8S-oKcdijIgkSnaMC4UjbZ0h2AVaBmX4gX0v7iO6Nn55bkNpv7i2fhIqtqG_0iRA5BPZP9SPx1afMmJsWkxvFSxhhAfeP_no4vgIwNpH2alwQ"/>
          <p:cNvPicPr preferRelativeResize="0"/>
          <p:nvPr/>
        </p:nvPicPr>
        <p:blipFill rotWithShape="1">
          <a:blip r:embed="rId5">
            <a:alphaModFix/>
          </a:blip>
          <a:srcRect/>
          <a:stretch/>
        </p:blipFill>
        <p:spPr>
          <a:xfrm>
            <a:off x="10918866" y="24397"/>
            <a:ext cx="933450" cy="933450"/>
          </a:xfrm>
          <a:prstGeom prst="rect">
            <a:avLst/>
          </a:prstGeom>
          <a:noFill/>
          <a:ln>
            <a:noFill/>
          </a:ln>
        </p:spPr>
      </p:pic>
      <p:sp>
        <p:nvSpPr>
          <p:cNvPr id="341" name="Google Shape;341;p31"/>
          <p:cNvSpPr txBox="1"/>
          <p:nvPr/>
        </p:nvSpPr>
        <p:spPr>
          <a:xfrm>
            <a:off x="4428045" y="6435175"/>
            <a:ext cx="3335909" cy="179536"/>
          </a:xfrm>
          <a:prstGeom prst="rect">
            <a:avLst/>
          </a:prstGeom>
          <a:noFill/>
          <a:ln>
            <a:noFill/>
          </a:ln>
        </p:spPr>
        <p:txBody>
          <a:bodyPr spcFirstLastPara="1" wrap="square" lIns="0" tIns="0" rIns="0" bIns="0" anchor="t" anchorCtr="0">
            <a:spAutoFit/>
          </a:bodyPr>
          <a:lstStyle/>
          <a:p>
            <a:pPr marL="186690" marR="0" lvl="0" indent="0" algn="ctr" rtl="0">
              <a:lnSpc>
                <a:spcPct val="119583"/>
              </a:lnSpc>
              <a:spcBef>
                <a:spcPts val="0"/>
              </a:spcBef>
              <a:spcAft>
                <a:spcPts val="0"/>
              </a:spcAft>
              <a:buClr>
                <a:srgbClr val="878787"/>
              </a:buClr>
              <a:buSzPts val="1200"/>
              <a:buFont typeface="Georgia"/>
              <a:buNone/>
            </a:pPr>
            <a:r>
              <a:rPr lang="en-US" sz="1200" b="0" i="0" u="none" strike="noStrike" cap="none">
                <a:solidFill>
                  <a:srgbClr val="878787"/>
                </a:solidFill>
                <a:latin typeface="Georgia"/>
                <a:ea typeface="Georgia"/>
                <a:cs typeface="Georgia"/>
                <a:sym typeface="Georgia"/>
              </a:rPr>
              <a:t>Department of CSE (Data Science), DSCE</a:t>
            </a:r>
            <a:endParaRPr sz="1200" b="0" i="0" u="none" strike="noStrike" cap="none">
              <a:solidFill>
                <a:srgbClr val="878787"/>
              </a:solidFill>
              <a:latin typeface="Georgia"/>
              <a:ea typeface="Georgia"/>
              <a:cs typeface="Georgia"/>
              <a:sym typeface="Georgia"/>
            </a:endParaRPr>
          </a:p>
        </p:txBody>
      </p:sp>
      <p:sp>
        <p:nvSpPr>
          <p:cNvPr id="342" name="Google Shape;342;p31"/>
          <p:cNvSpPr txBox="1"/>
          <p:nvPr/>
        </p:nvSpPr>
        <p:spPr>
          <a:xfrm>
            <a:off x="3254351" y="2631883"/>
            <a:ext cx="6044565" cy="2315845"/>
          </a:xfrm>
          <a:prstGeom prst="rect">
            <a:avLst/>
          </a:prstGeom>
          <a:noFill/>
          <a:ln>
            <a:noFill/>
          </a:ln>
        </p:spPr>
        <p:txBody>
          <a:bodyPr spcFirstLastPara="1" wrap="square" lIns="0" tIns="3175" rIns="0" bIns="0" anchor="t" anchorCtr="0">
            <a:spAutoFit/>
          </a:bodyPr>
          <a:lstStyle/>
          <a:p>
            <a:pPr marL="1993900" marR="1284605" lvl="0" indent="-704850" algn="l" rtl="0">
              <a:lnSpc>
                <a:spcPct val="101099"/>
              </a:lnSpc>
              <a:spcBef>
                <a:spcPts val="0"/>
              </a:spcBef>
              <a:spcAft>
                <a:spcPts val="0"/>
              </a:spcAft>
              <a:buNone/>
            </a:pPr>
            <a:r>
              <a:rPr lang="en-US" sz="7200" b="1">
                <a:solidFill>
                  <a:srgbClr val="4F6028"/>
                </a:solidFill>
                <a:latin typeface="Cambria"/>
                <a:ea typeface="Cambria"/>
                <a:cs typeface="Cambria"/>
                <a:sym typeface="Cambria"/>
              </a:rPr>
              <a:t>THANK YOU</a:t>
            </a:r>
            <a:endParaRPr sz="7200">
              <a:solidFill>
                <a:schemeClr val="dk1"/>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TotalTime>
  <Words>2413</Words>
  <Application>Microsoft Office PowerPoint</Application>
  <PresentationFormat>Widescreen</PresentationFormat>
  <Paragraphs>258</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Cambria</vt:lpstr>
      <vt:lpstr>Comic Sans MS</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DishaSharma</dc:creator>
  <cp:lastModifiedBy>Dheekshva R</cp:lastModifiedBy>
  <cp:revision>11</cp:revision>
  <dcterms:modified xsi:type="dcterms:W3CDTF">2025-05-11T09:52:02Z</dcterms:modified>
</cp:coreProperties>
</file>